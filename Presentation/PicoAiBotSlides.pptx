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6.png" ContentType="image/png"/>
  <Override PartName="/ppt/media/image2.png" ContentType="image/png"/>
  <Override PartName="/ppt/media/image3.png" ContentType="image/png"/>
  <Override PartName="/ppt/media/image4.png" ContentType="image/png"/>
  <Override PartName="/ppt/media/image5.jpeg" ContentType="image/jpeg"/>
  <Override PartName="/ppt/media/image7.png" ContentType="image/png"/>
  <Override PartName="/ppt/media/image8.jpeg" ContentType="image/jpeg"/>
  <Override PartName="/ppt/media/image9.png" ContentType="image/png"/>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_rels/notesSlide9.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400" spc="-1" strike="noStrike">
                <a:solidFill>
                  <a:srgbClr val="000000"/>
                </a:solidFill>
                <a:latin typeface="Arial"/>
              </a:rPr>
              <a:t>Click to move the slide</a:t>
            </a:r>
            <a:endParaRPr b="0" lang="en-US" sz="1400" spc="-1" strike="noStrike">
              <a:solidFill>
                <a:srgbClr val="000000"/>
              </a:solidFill>
              <a:latin typeface="Arial"/>
            </a:endParaRPr>
          </a:p>
        </p:txBody>
      </p:sp>
      <p:sp>
        <p:nvSpPr>
          <p:cNvPr id="1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7"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8"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F70CD6E-C520-4D5B-8F0B-8CC7D855E81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381240" y="685800"/>
            <a:ext cx="6095520" cy="3428640"/>
          </a:xfrm>
          <a:prstGeom prst="rect">
            <a:avLst/>
          </a:prstGeom>
          <a:ln w="0">
            <a:noFill/>
          </a:ln>
        </p:spPr>
      </p:sp>
      <p:sp>
        <p:nvSpPr>
          <p:cNvPr id="104"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Make sure everyone can connect to guest wifi.</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Check everyone has pre-loaded Arduino IDE and Pico support: connect Pico to laptop; launch Arduino IDE and open blink example; set the board type (Pico) and port (e.g. /dev/ttyACM0, COM9); build and program blink example. Observe flashing LED.</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Hand out Interposer boards.</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381240" y="685800"/>
            <a:ext cx="6095520" cy="3428640"/>
          </a:xfrm>
          <a:prstGeom prst="rect">
            <a:avLst/>
          </a:prstGeom>
          <a:ln w="0">
            <a:noFill/>
          </a:ln>
        </p:spPr>
      </p:sp>
      <p:sp>
        <p:nvSpPr>
          <p:cNvPr id="106"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Workshop runs 10:00 AM to 1:40 PM.</a:t>
            </a: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381240" y="685800"/>
            <a:ext cx="6095520" cy="3428640"/>
          </a:xfrm>
          <a:prstGeom prst="rect">
            <a:avLst/>
          </a:prstGeom>
          <a:ln w="0">
            <a:noFill/>
          </a:ln>
        </p:spPr>
      </p:sp>
      <p:sp>
        <p:nvSpPr>
          <p:cNvPr id="108"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Talking points:</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Step 1: Inputting the Instructions. Explain the robot's intended behavior using simple, natural language. Feed these functional requirements directly into the AI assistant as a prompt.</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Step 2: AI Code Generation. The AI instantly translates human logic into structured Arduino C/C++ code. It automatically handles standard structural blocks like setup() and loop().</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Step 3: Moving to the Arduino IDE. Copy the raw code block generated by the AI with a single click. Paste the script directly into a fresh workspace inside the Arduino IDE software.</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Step 4: Flashing the Hardware. Tether the physical Arduino microcontroller to the computer using a USB cable. Compile the script and hit the upload button inside the IDE to flash the board's memory. Observe that the LEDs indicate the desired motion before moving to the physical robot.</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Step 5: Physical Integration &amp; Operation. Securely mount the newly programmed Arduino board onto the robot chassis. Connect a portable power source so the board can read sensors and drive physical motors autonomously.</a:t>
            </a: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sldImg"/>
          </p:nvPr>
        </p:nvSpPr>
        <p:spPr>
          <a:xfrm>
            <a:off x="381240" y="685800"/>
            <a:ext cx="6095520" cy="3428640"/>
          </a:xfrm>
          <a:prstGeom prst="rect">
            <a:avLst/>
          </a:prstGeom>
          <a:ln w="0">
            <a:noFill/>
          </a:ln>
        </p:spPr>
      </p:sp>
      <p:sp>
        <p:nvSpPr>
          <p:cNvPr id="110"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Define Arduino as meaning a microcontroller that runs firmware in the Arduino environment.</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Explain the Arduino environment: setup() and loop() functions, plus Arduino language.</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Explain that AI will write code like this, that you will copy/paste from browser window into Arduino IDE window, build it and load it into Pico. Interposer lights will illuminate when motors would run.</a:t>
            </a: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381240" y="685800"/>
            <a:ext cx="6095520" cy="3428640"/>
          </a:xfrm>
          <a:prstGeom prst="rect">
            <a:avLst/>
          </a:prstGeom>
          <a:ln w="0">
            <a:noFill/>
          </a:ln>
        </p:spPr>
      </p:sp>
      <p:sp>
        <p:nvSpPr>
          <p:cNvPr id="112"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Explain that the Pico is very versatile, with pins that can be general purpose digital inputs or outputs, or analog inputs, or I2C bus communication pins, or timer pins OR...OR...OR</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We're only using 2 pins: GP0 and GP1 as general purpose outputs that drive the LEDs and motors.</a:t>
            </a: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381240" y="685800"/>
            <a:ext cx="6095520" cy="3428640"/>
          </a:xfrm>
          <a:prstGeom prst="rect">
            <a:avLst/>
          </a:prstGeom>
          <a:ln w="0">
            <a:noFill/>
          </a:ln>
        </p:spPr>
      </p:sp>
      <p:sp>
        <p:nvSpPr>
          <p:cNvPr id="114"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The Interposer is interposed - goes between - the Pico circuit board and the robot circuit board.</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Explain that we use 2 GPIOs: GP0 and GP1, and they drive LEDs and drive motor-run signals out to the robot.</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The Interposer is your own personal robot simulator. You can ask the AI to generate code from your text, download it to the Pico, and watch the LEDs - ON means the corresponding wheel motor will run.</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When you're happy with what the LEDs indicate, you can mount the Interposer board on the SHARED robot.</a:t>
            </a: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381240" y="685800"/>
            <a:ext cx="6095520" cy="3428640"/>
          </a:xfrm>
          <a:prstGeom prst="rect">
            <a:avLst/>
          </a:prstGeom>
          <a:ln w="0">
            <a:noFill/>
          </a:ln>
        </p:spPr>
      </p:sp>
      <p:sp>
        <p:nvSpPr>
          <p:cNvPr id="116"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Arduino with two pins driving switches which control 2 motors on the robot.</a:t>
            </a: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381240" y="685800"/>
            <a:ext cx="6095520" cy="3428640"/>
          </a:xfrm>
          <a:prstGeom prst="rect">
            <a:avLst/>
          </a:prstGeom>
          <a:ln w="0">
            <a:noFill/>
          </a:ln>
        </p:spPr>
      </p:sp>
      <p:sp>
        <p:nvSpPr>
          <p:cNvPr id="118"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Launch google in AI mode.</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Give it a detailed instruction on what to do, with context (example prompt on slide).</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Copy the resulting sketch into the Arduino IDE. Download &amp; show.</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Note this is not a great instruction - it's ambiguous regarding whether the ramp should take 5 seconds or the loop should take 5 seconds. The AI will take a guess.</a:t>
            </a: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381240" y="685800"/>
            <a:ext cx="6095520" cy="3428640"/>
          </a:xfrm>
          <a:prstGeom prst="rect">
            <a:avLst/>
          </a:prstGeom>
          <a:ln w="0">
            <a:noFill/>
          </a:ln>
        </p:spPr>
      </p:sp>
      <p:sp>
        <p:nvSpPr>
          <p:cNvPr id="120"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Run AI in your machine to directly edit files (Google Antigravity, Claude Code, OpenAI Codex, GitHub Copilot, Cursor).</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Demo agy.</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If you have VS-Code with Copilot, or claude or any other AI you are welcome to use it for The Challenge.</a:t>
            </a: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sldImg"/>
          </p:nvPr>
        </p:nvSpPr>
        <p:spPr>
          <a:xfrm>
            <a:off x="381240" y="685800"/>
            <a:ext cx="6095520" cy="3428640"/>
          </a:xfrm>
          <a:prstGeom prst="rect">
            <a:avLst/>
          </a:prstGeom>
          <a:ln w="0">
            <a:noFill/>
          </a:ln>
        </p:spPr>
      </p:sp>
      <p:sp>
        <p:nvSpPr>
          <p:cNvPr id="122"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Open up google in AI mode. Give it the instruction on the slide.</a:t>
            </a: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381240" y="685800"/>
            <a:ext cx="6095520" cy="3428640"/>
          </a:xfrm>
          <a:prstGeom prst="rect">
            <a:avLst/>
          </a:prstGeom>
          <a:ln w="0">
            <a:noFill/>
          </a:ln>
        </p:spPr>
      </p:sp>
      <p:sp>
        <p:nvSpPr>
          <p:cNvPr id="124"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Copy the code it produces into the Arduino IDE. Set the board type to Raspberry Pi Pico, and build and load the sketch into the Raspberry Pi.</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Look at the LEDs and check that the light pattern is as specified. If results aren't as expected, ask AI to add debug print statements to the sketch. Load the modified sketch and watch the prints with the Arduino monitor. Look at the code. Ask AI how the code works.</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Put your interposer on a robot. Get the wheels off the ground and check that the wheels move as expected. Put the robot on the table and check it spins one way then the other.</a:t>
            </a: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sldImg"/>
          </p:nvPr>
        </p:nvSpPr>
        <p:spPr>
          <a:xfrm>
            <a:off x="381240" y="685800"/>
            <a:ext cx="6095520" cy="3428640"/>
          </a:xfrm>
          <a:prstGeom prst="rect">
            <a:avLst/>
          </a:prstGeom>
          <a:ln w="0">
            <a:noFill/>
          </a:ln>
        </p:spPr>
      </p:sp>
      <p:sp>
        <p:nvSpPr>
          <p:cNvPr id="126"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Explain The Challenges, and how your firmware will drive the motors (forwards-only) to accomplish the goal.</a:t>
            </a:r>
            <a:endParaRPr b="0" lang="en-US" sz="1200" spc="-1" strike="noStrike">
              <a:solidFill>
                <a:srgbClr val="000000"/>
              </a:solidFill>
              <a:latin typeface="Arial"/>
            </a:endParaRPr>
          </a:p>
          <a:p>
            <a:pPr marL="216000" indent="-216000">
              <a:lnSpc>
                <a:spcPct val="110000"/>
              </a:lnSpc>
              <a:spcAft>
                <a:spcPts val="283"/>
              </a:spcAft>
              <a:buNone/>
            </a:pPr>
            <a:r>
              <a:rPr b="0" lang="en-US" sz="1200" spc="-1" strike="noStrike">
                <a:solidFill>
                  <a:srgbClr val="000000"/>
                </a:solidFill>
                <a:latin typeface="Open Sans"/>
              </a:rPr>
              <a:t>Point out that you can use variable PWM independently to create interesting light patterns.</a:t>
            </a: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381240" y="685800"/>
            <a:ext cx="6095520" cy="3428640"/>
          </a:xfrm>
          <a:prstGeom prst="rect">
            <a:avLst/>
          </a:prstGeom>
          <a:ln w="0">
            <a:noFill/>
          </a:ln>
        </p:spPr>
      </p:sp>
      <p:sp>
        <p:nvSpPr>
          <p:cNvPr id="128"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Begin by writing a plan in plain English first (e.g. forward 2 seconds at 50%, pause 0.5 sec, .....). Then paste your plan into the prompt with the surrounding context (pin numbers etc).</a:t>
            </a: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sldImg"/>
          </p:nvPr>
        </p:nvSpPr>
        <p:spPr>
          <a:xfrm>
            <a:off x="381240" y="685800"/>
            <a:ext cx="6095520" cy="3428640"/>
          </a:xfrm>
          <a:prstGeom prst="rect">
            <a:avLst/>
          </a:prstGeom>
          <a:ln w="0">
            <a:noFill/>
          </a:ln>
        </p:spPr>
      </p:sp>
      <p:sp>
        <p:nvSpPr>
          <p:cNvPr id="130" name="PlaceHolder 2"/>
          <p:cNvSpPr>
            <a:spLocks noGrp="1"/>
          </p:cNvSpPr>
          <p:nvPr>
            <p:ph type="body"/>
          </p:nvPr>
        </p:nvSpPr>
        <p:spPr>
          <a:xfrm>
            <a:off x="685800" y="4343400"/>
            <a:ext cx="5486040" cy="4114440"/>
          </a:xfrm>
          <a:prstGeom prst="rect">
            <a:avLst/>
          </a:prstGeom>
          <a:noFill/>
          <a:ln w="0">
            <a:noFill/>
          </a:ln>
        </p:spPr>
        <p:txBody>
          <a:bodyPr lIns="91440" rIns="91440" tIns="91440" bIns="91440" anchor="t">
            <a:noAutofit/>
          </a:bodyPr>
          <a:p>
            <a:pPr marL="216000" indent="-216000">
              <a:lnSpc>
                <a:spcPct val="110000"/>
              </a:lnSpc>
              <a:spcAft>
                <a:spcPts val="283"/>
              </a:spcAft>
              <a:buNone/>
            </a:pPr>
            <a:r>
              <a:rPr b="0" lang="en-US" sz="1200" spc="-1" strike="noStrike">
                <a:solidFill>
                  <a:srgbClr val="000000"/>
                </a:solidFill>
                <a:latin typeface="Open Sans"/>
              </a:rPr>
              <a:t>Content: TBD</a:t>
            </a: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8281F359-51F1-47C3-9232-6F613B9A1EB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C015EED8-F865-4A62-B104-E60397782235}"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94853C7D-5237-49E7-B59C-F846604F8F4F}"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Generated (h17a8bbce3d192652_2_0)">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e71c"/>
        </a:solidFill>
      </p:bgPr>
    </p:bg>
    <p:spTree>
      <p:nvGrpSpPr>
        <p:cNvPr id="1" name=""/>
        <p:cNvGrpSpPr/>
        <p:nvPr/>
      </p:nvGrpSpPr>
      <p:grpSpPr>
        <a:xfrm>
          <a:off x="0" y="0"/>
          <a:ext cx="0" cy="0"/>
          <a:chOff x="0" y="0"/>
          <a:chExt cx="0" cy="0"/>
        </a:xfrm>
      </p:grpSpPr>
      <p:sp>
        <p:nvSpPr>
          <p:cNvPr id="0" name="Google Shape;10;p2"/>
          <p:cNvSpPr/>
          <p:nvPr/>
        </p:nvSpPr>
        <p:spPr>
          <a:xfrm>
            <a:off x="4286160" y="0"/>
            <a:ext cx="72000" cy="5143320"/>
          </a:xfrm>
          <a:prstGeom prst="rect">
            <a:avLst/>
          </a:prstGeom>
          <a:solidFill>
            <a:srgbClr val="000000"/>
          </a:solidFill>
          <a:ln w="0">
            <a:noFill/>
          </a:ln>
        </p:spPr>
        <p:style>
          <a:lnRef idx="0"/>
          <a:fillRef idx="0"/>
          <a:effectRef idx="0"/>
          <a:fontRef idx="minor"/>
        </p:style>
        <p:txBody>
          <a:bodyPr tIns="91440" bIns="91440" anchor="ctr">
            <a:noAutofit/>
          </a:bodyPr>
          <a:p>
            <a:endParaRPr b="0" lang="en-US" sz="1400" spc="-1" strike="noStrike">
              <a:solidFill>
                <a:srgbClr val="ffffff"/>
              </a:solidFill>
              <a:latin typeface="Arial"/>
            </a:endParaRPr>
          </a:p>
        </p:txBody>
      </p:sp>
      <p:sp>
        <p:nvSpPr>
          <p:cNvPr id="1" name="Google Shape;11;p2"/>
          <p:cNvSpPr/>
          <p:nvPr/>
        </p:nvSpPr>
        <p:spPr>
          <a:xfrm>
            <a:off x="4358520" y="0"/>
            <a:ext cx="3852720" cy="5143320"/>
          </a:xfrm>
          <a:prstGeom prst="rect">
            <a:avLst/>
          </a:prstGeom>
          <a:solidFill>
            <a:srgbClr val="01afd1"/>
          </a:solidFill>
          <a:ln w="0">
            <a:noFill/>
          </a:ln>
        </p:spPr>
        <p:style>
          <a:lnRef idx="0"/>
          <a:fillRef idx="0"/>
          <a:effectRef idx="0"/>
          <a:fontRef idx="minor"/>
        </p:style>
        <p:txBody>
          <a:bodyPr tIns="91440" bIns="91440" anchor="ctr">
            <a:noAutofit/>
          </a:bodyPr>
          <a:p>
            <a:endParaRPr b="0" lang="en-US" sz="1400" spc="-1" strike="noStrike">
              <a:solidFill>
                <a:srgbClr val="ffffff"/>
              </a:solidFill>
              <a:latin typeface="Arial"/>
            </a:endParaRPr>
          </a:p>
        </p:txBody>
      </p:sp>
      <p:sp>
        <p:nvSpPr>
          <p:cNvPr id="2" name="PlaceHolder 1"/>
          <p:cNvSpPr>
            <a:spLocks noGrp="1"/>
          </p:cNvSpPr>
          <p:nvPr>
            <p:ph type="title"/>
          </p:nvPr>
        </p:nvSpPr>
        <p:spPr>
          <a:xfrm>
            <a:off x="344160" y="1404000"/>
            <a:ext cx="8455320" cy="214632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3" name="PlaceHolder 2"/>
          <p:cNvSpPr>
            <a:spLocks noGrp="1"/>
          </p:cNvSpPr>
          <p:nvPr>
            <p:ph type="sldNum" idx="1"/>
          </p:nvPr>
        </p:nvSpPr>
        <p:spPr>
          <a:xfrm>
            <a:off x="8498160" y="46886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rgbClr val="000000"/>
                </a:solidFill>
                <a:latin typeface="Playfair Display"/>
                <a:ea typeface="Playfair Display"/>
              </a:defRPr>
            </a:lvl1pPr>
          </a:lstStyle>
          <a:p>
            <a:pPr indent="0" algn="r">
              <a:lnSpc>
                <a:spcPct val="100000"/>
              </a:lnSpc>
              <a:buNone/>
              <a:tabLst>
                <a:tab algn="l" pos="0"/>
              </a:tabLst>
            </a:pPr>
            <a:fld id="{88BEDABB-893C-4F5F-9727-CD29B3310185}" type="slidenum">
              <a:rPr b="0" lang="en-US" sz="1000" spc="-1" strike="noStrike">
                <a:solidFill>
                  <a:srgbClr val="000000"/>
                </a:solidFill>
                <a:latin typeface="Playfair Display"/>
                <a:ea typeface="Playfair Display"/>
              </a:rPr>
              <a:t>&lt;number&gt;</a:t>
            </a:fld>
            <a:endParaRPr b="0" lang="en-US" sz="1000" spc="-1" strike="noStrike">
              <a:solidFill>
                <a:srgbClr val="000000"/>
              </a:solidFill>
              <a:latin typeface="Times New Roman"/>
            </a:endParaRPr>
          </a:p>
        </p:txBody>
      </p:sp>
      <p:sp>
        <p:nvSpPr>
          <p:cNvPr id="4"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9" name="PlaceHolder 2"/>
          <p:cNvSpPr>
            <a:spLocks noGrp="1"/>
          </p:cNvSpPr>
          <p:nvPr>
            <p:ph type="sldNum" idx="2"/>
          </p:nvPr>
        </p:nvSpPr>
        <p:spPr>
          <a:xfrm>
            <a:off x="8498160" y="468864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US" sz="1000" spc="-1" strike="noStrike">
                <a:solidFill>
                  <a:srgbClr val="000000"/>
                </a:solidFill>
                <a:latin typeface="Playfair Display"/>
                <a:ea typeface="Playfair Display"/>
              </a:defRPr>
            </a:lvl1pPr>
          </a:lstStyle>
          <a:p>
            <a:pPr indent="0" algn="r">
              <a:lnSpc>
                <a:spcPct val="100000"/>
              </a:lnSpc>
              <a:buNone/>
              <a:tabLst>
                <a:tab algn="l" pos="0"/>
              </a:tabLst>
            </a:pPr>
            <a:fld id="{C4EFD23B-82AB-492A-B849-E0ABD321C771}" type="slidenum">
              <a:rPr b="0" lang="en-US" sz="1000" spc="-1" strike="noStrike">
                <a:solidFill>
                  <a:srgbClr val="000000"/>
                </a:solidFill>
                <a:latin typeface="Playfair Display"/>
                <a:ea typeface="Playfair Display"/>
              </a:rPr>
              <a:t>&lt;number&gt;</a:t>
            </a:fld>
            <a:endParaRPr b="0" lang="en-US" sz="1000" spc="-1" strike="noStrike">
              <a:solidFill>
                <a:srgbClr val="000000"/>
              </a:solidFill>
              <a:latin typeface="Times New Roman"/>
            </a:endParaRPr>
          </a:p>
        </p:txBody>
      </p:sp>
      <p:sp>
        <p:nvSpPr>
          <p:cNvPr id="1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1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4"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mailto:meetdprg@gmail.com" TargetMode="External"/><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jpeg"/><Relationship Id="rId3"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hyperlink" Target="mailto:paul.bouchier@gmail.com" TargetMode="External"/><Relationship Id="rId2" Type="http://schemas.openxmlformats.org/officeDocument/2006/relationships/slideLayout" Target="../slideLayouts/slideLayout3.xml"/><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344160" y="1404000"/>
            <a:ext cx="8455320" cy="2146320"/>
          </a:xfrm>
          <a:prstGeom prst="rect">
            <a:avLst/>
          </a:prstGeom>
          <a:solidFill>
            <a:srgbClr val="ffffff"/>
          </a:solidFill>
          <a:ln w="0">
            <a:noFill/>
          </a:ln>
        </p:spPr>
        <p:txBody>
          <a:bodyPr lIns="91440" rIns="91440" tIns="91440" bIns="91440" anchor="ctr">
            <a:normAutofit fontScale="93672"/>
          </a:bodyPr>
          <a:p>
            <a:pPr indent="0" algn="ctr">
              <a:lnSpc>
                <a:spcPct val="100000"/>
              </a:lnSpc>
              <a:buNone/>
              <a:tabLst>
                <a:tab algn="l" pos="0"/>
              </a:tabLst>
            </a:pPr>
            <a:r>
              <a:rPr b="1" lang="en-US" sz="6800" spc="-1" strike="noStrike">
                <a:solidFill>
                  <a:srgbClr val="000000"/>
                </a:solidFill>
                <a:latin typeface="Playfair Display"/>
                <a:ea typeface="Playfair Display"/>
              </a:rPr>
              <a:t>Program an Arduino Robot using AI</a:t>
            </a:r>
            <a:endParaRPr b="0" lang="en-US" sz="6800" spc="-1" strike="noStrike">
              <a:solidFill>
                <a:srgbClr val="000000"/>
              </a:solidFill>
              <a:latin typeface="Arial"/>
            </a:endParaRPr>
          </a:p>
        </p:txBody>
      </p:sp>
      <p:sp>
        <p:nvSpPr>
          <p:cNvPr id="21" name="PlaceHolder 2"/>
          <p:cNvSpPr>
            <a:spLocks noGrp="1"/>
          </p:cNvSpPr>
          <p:nvPr>
            <p:ph type="subTitle"/>
          </p:nvPr>
        </p:nvSpPr>
        <p:spPr>
          <a:xfrm>
            <a:off x="344160" y="3550680"/>
            <a:ext cx="6056640" cy="1021320"/>
          </a:xfrm>
          <a:prstGeom prst="rect">
            <a:avLst/>
          </a:prstGeom>
          <a:solidFill>
            <a:srgbClr val="000000"/>
          </a:solidFill>
          <a:ln w="0">
            <a:noFill/>
          </a:ln>
        </p:spPr>
        <p:txBody>
          <a:bodyPr lIns="91440" rIns="91440" tIns="91440" bIns="91440" anchor="ctr">
            <a:normAutofit/>
          </a:bodyPr>
          <a:p>
            <a:pPr indent="0">
              <a:lnSpc>
                <a:spcPct val="100000"/>
              </a:lnSpc>
              <a:buNone/>
              <a:tabLst>
                <a:tab algn="l" pos="0"/>
              </a:tabLst>
            </a:pPr>
            <a:r>
              <a:rPr b="1" lang="en-US" sz="1300" spc="-1" strike="noStrike">
                <a:solidFill>
                  <a:srgbClr val="ffffff"/>
                </a:solidFill>
                <a:latin typeface="Montserrat"/>
                <a:ea typeface="Montserrat"/>
              </a:rPr>
              <a:t>DPRG October 24 2026</a:t>
            </a:r>
            <a:endParaRPr b="0" lang="en-US" sz="1300" spc="-1" strike="noStrike">
              <a:solidFill>
                <a:srgbClr val="ffffff"/>
              </a:solidFill>
              <a:latin typeface="Arial"/>
            </a:endParaRPr>
          </a:p>
          <a:p>
            <a:pPr indent="0">
              <a:lnSpc>
                <a:spcPct val="100000"/>
              </a:lnSpc>
              <a:buNone/>
              <a:tabLst>
                <a:tab algn="l" pos="0"/>
              </a:tabLst>
            </a:pPr>
            <a:r>
              <a:rPr b="1" lang="en-US" sz="2400" spc="-1" strike="noStrike">
                <a:solidFill>
                  <a:srgbClr val="ffffff"/>
                </a:solidFill>
                <a:latin typeface="Montserrat"/>
                <a:ea typeface="Montserrat"/>
              </a:rPr>
              <a:t>https://tinyurl.com/PicoAiBotSlides</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Laptop Checks</a:t>
            </a:r>
            <a:endParaRPr b="0" lang="en-US" sz="3000" spc="-1" strike="noStrike">
              <a:solidFill>
                <a:srgbClr val="000000"/>
              </a:solidFill>
              <a:latin typeface="Arial"/>
            </a:endParaRPr>
          </a:p>
        </p:txBody>
      </p:sp>
      <p:sp>
        <p:nvSpPr>
          <p:cNvPr id="23"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24" name=""/>
          <p:cNvSpPr txBox="1"/>
          <p:nvPr/>
        </p:nvSpPr>
        <p:spPr>
          <a:xfrm>
            <a:off x="457200" y="932400"/>
            <a:ext cx="8218800" cy="3841200"/>
          </a:xfrm>
          <a:prstGeom prst="rect">
            <a:avLst/>
          </a:prstGeom>
          <a:noFill/>
          <a:ln w="0">
            <a:noFill/>
          </a:ln>
        </p:spPr>
        <p:txBody>
          <a:bodyPr lIns="36000" rIns="36000" tIns="36000" bIns="36000" anchor="t">
            <a:noAutofit/>
          </a:bodyPr>
          <a:p>
            <a:pPr marL="252000" indent="-252000">
              <a:lnSpc>
                <a:spcPct val="110000"/>
              </a:lnSpc>
              <a:spcAft>
                <a:spcPts val="992"/>
              </a:spcAft>
              <a:buClr>
                <a:srgbClr val="0369a3"/>
              </a:buClr>
              <a:buSzPct val="70000"/>
              <a:buFont typeface="Wingdings" charset="2"/>
              <a:buChar char=""/>
            </a:pPr>
            <a:r>
              <a:rPr b="0" lang="en-US" sz="2000" spc="-1" strike="noStrike">
                <a:solidFill>
                  <a:srgbClr val="000000"/>
                </a:solidFill>
                <a:latin typeface="Open Sans"/>
              </a:rPr>
              <a:t>Connect to the guest wifi</a:t>
            </a:r>
            <a:endParaRPr b="0" lang="en-US" sz="2000" spc="-1" strike="noStrike">
              <a:solidFill>
                <a:srgbClr val="000000"/>
              </a:solidFill>
              <a:latin typeface="Arial"/>
            </a:endParaRPr>
          </a:p>
          <a:p>
            <a:pPr marL="252000" indent="-252000">
              <a:lnSpc>
                <a:spcPct val="110000"/>
              </a:lnSpc>
              <a:spcAft>
                <a:spcPts val="992"/>
              </a:spcAft>
              <a:buClr>
                <a:srgbClr val="0369a3"/>
              </a:buClr>
              <a:buSzPct val="70000"/>
              <a:buFont typeface="Wingdings" charset="2"/>
              <a:buChar char=""/>
            </a:pPr>
            <a:r>
              <a:rPr b="0" lang="en-US" sz="2000" spc="-1" strike="noStrike">
                <a:solidFill>
                  <a:srgbClr val="000000"/>
                </a:solidFill>
                <a:latin typeface="Open Sans"/>
              </a:rPr>
              <a:t>Arduino IDE and Pico support pre-loaded? Check it works:</a:t>
            </a:r>
            <a:endParaRPr b="0" lang="en-US" sz="2000" spc="-1" strike="noStrike">
              <a:solidFill>
                <a:srgbClr val="000000"/>
              </a:solidFill>
              <a:latin typeface="Arial"/>
            </a:endParaRPr>
          </a:p>
          <a:p>
            <a:pPr lvl="1" marL="504000" indent="-216000">
              <a:lnSpc>
                <a:spcPct val="110000"/>
              </a:lnSpc>
              <a:spcAft>
                <a:spcPts val="992"/>
              </a:spcAft>
              <a:buClr>
                <a:srgbClr val="0369a3"/>
              </a:buClr>
              <a:buFont typeface="Symbol" charset="2"/>
              <a:buChar char=""/>
            </a:pPr>
            <a:r>
              <a:rPr b="0" lang="en-US" sz="2000" spc="-1" strike="noStrike">
                <a:solidFill>
                  <a:srgbClr val="000000"/>
                </a:solidFill>
                <a:latin typeface="Open Sans"/>
              </a:rPr>
              <a:t>Connect the Pico to your laptop</a:t>
            </a:r>
            <a:endParaRPr b="0" lang="en-US" sz="2000" spc="-1" strike="noStrike">
              <a:solidFill>
                <a:srgbClr val="000000"/>
              </a:solidFill>
              <a:latin typeface="Arial"/>
            </a:endParaRPr>
          </a:p>
          <a:p>
            <a:pPr lvl="1" marL="504000" indent="-216000">
              <a:lnSpc>
                <a:spcPct val="110000"/>
              </a:lnSpc>
              <a:spcAft>
                <a:spcPts val="992"/>
              </a:spcAft>
              <a:buClr>
                <a:srgbClr val="0369a3"/>
              </a:buClr>
              <a:buFont typeface="Symbol" charset="2"/>
              <a:buChar char=""/>
            </a:pPr>
            <a:r>
              <a:rPr b="0" lang="en-US" sz="2000" spc="-1" strike="noStrike">
                <a:solidFill>
                  <a:srgbClr val="000000"/>
                </a:solidFill>
                <a:latin typeface="Open Sans"/>
              </a:rPr>
              <a:t>Launch the Arduino IDE and open the </a:t>
            </a:r>
            <a:r>
              <a:rPr b="1" lang="en-US" sz="2000" spc="-1" strike="noStrike">
                <a:solidFill>
                  <a:srgbClr val="000000"/>
                </a:solidFill>
                <a:latin typeface="Open Sans"/>
              </a:rPr>
              <a:t>Blink</a:t>
            </a:r>
            <a:r>
              <a:rPr b="0" lang="en-US" sz="2000" spc="-1" strike="noStrike">
                <a:solidFill>
                  <a:srgbClr val="000000"/>
                </a:solidFill>
                <a:latin typeface="Open Sans"/>
              </a:rPr>
              <a:t> example</a:t>
            </a:r>
            <a:endParaRPr b="0" lang="en-US" sz="2000" spc="-1" strike="noStrike">
              <a:solidFill>
                <a:srgbClr val="000000"/>
              </a:solidFill>
              <a:latin typeface="Arial"/>
            </a:endParaRPr>
          </a:p>
          <a:p>
            <a:pPr lvl="1" marL="504000" indent="-216000">
              <a:lnSpc>
                <a:spcPct val="110000"/>
              </a:lnSpc>
              <a:spcAft>
                <a:spcPts val="992"/>
              </a:spcAft>
              <a:buClr>
                <a:srgbClr val="0369a3"/>
              </a:buClr>
              <a:buFont typeface="Symbol" charset="2"/>
              <a:buChar char=""/>
            </a:pPr>
            <a:r>
              <a:rPr b="0" lang="en-US" sz="2000" spc="-1" strike="noStrike">
                <a:solidFill>
                  <a:srgbClr val="000000"/>
                </a:solidFill>
                <a:latin typeface="Open Sans"/>
              </a:rPr>
              <a:t>Set the board type (Pico) and port (e.g. </a:t>
            </a:r>
            <a:r>
              <a:rPr b="0" lang="en-US" sz="2000" spc="-1" strike="noStrike">
                <a:solidFill>
                  <a:srgbClr val="000000"/>
                </a:solidFill>
                <a:latin typeface="Courier New"/>
              </a:rPr>
              <a:t>/dev/ttyACM0</a:t>
            </a:r>
            <a:r>
              <a:rPr b="0" lang="en-US" sz="2000" spc="-1" strike="noStrike">
                <a:solidFill>
                  <a:srgbClr val="000000"/>
                </a:solidFill>
                <a:latin typeface="Open Sans"/>
              </a:rPr>
              <a:t>, </a:t>
            </a:r>
            <a:r>
              <a:rPr b="0" lang="en-US" sz="2000" spc="-1" strike="noStrike">
                <a:solidFill>
                  <a:srgbClr val="000000"/>
                </a:solidFill>
                <a:latin typeface="Courier New"/>
              </a:rPr>
              <a:t>COM9</a:t>
            </a:r>
            <a:r>
              <a:rPr b="0" lang="en-US" sz="2000" spc="-1" strike="noStrike">
                <a:solidFill>
                  <a:srgbClr val="000000"/>
                </a:solidFill>
                <a:latin typeface="Open Sans"/>
              </a:rPr>
              <a:t>)</a:t>
            </a:r>
            <a:endParaRPr b="0" lang="en-US" sz="2000" spc="-1" strike="noStrike">
              <a:solidFill>
                <a:srgbClr val="000000"/>
              </a:solidFill>
              <a:latin typeface="Arial"/>
            </a:endParaRPr>
          </a:p>
          <a:p>
            <a:pPr lvl="1" marL="504000" indent="-216000">
              <a:lnSpc>
                <a:spcPct val="110000"/>
              </a:lnSpc>
              <a:spcAft>
                <a:spcPts val="992"/>
              </a:spcAft>
              <a:buClr>
                <a:srgbClr val="0369a3"/>
              </a:buClr>
              <a:buFont typeface="Symbol" charset="2"/>
              <a:buChar char=""/>
            </a:pPr>
            <a:r>
              <a:rPr b="0" lang="en-US" sz="2000" spc="-1" strike="noStrike">
                <a:solidFill>
                  <a:srgbClr val="000000"/>
                </a:solidFill>
                <a:latin typeface="Open Sans"/>
              </a:rPr>
              <a:t>Build and program Blink. Observe the flashing LED</a:t>
            </a:r>
            <a:endParaRPr b="0" lang="en-US" sz="2000" spc="-1" strike="noStrike">
              <a:solidFill>
                <a:srgbClr val="000000"/>
              </a:solidFill>
              <a:latin typeface="Arial"/>
            </a:endParaRPr>
          </a:p>
          <a:p>
            <a:pPr marL="252000" indent="-252000">
              <a:lnSpc>
                <a:spcPct val="110000"/>
              </a:lnSpc>
              <a:spcAft>
                <a:spcPts val="992"/>
              </a:spcAft>
              <a:buClr>
                <a:srgbClr val="0369a3"/>
              </a:buClr>
              <a:buSzPct val="70000"/>
              <a:buFont typeface="Wingdings" charset="2"/>
              <a:buChar char=""/>
            </a:pPr>
            <a:r>
              <a:rPr b="0" lang="en-US" sz="2000" spc="-1" strike="noStrike">
                <a:solidFill>
                  <a:srgbClr val="000000"/>
                </a:solidFill>
                <a:latin typeface="Open Sans"/>
              </a:rPr>
              <a:t>Get your Interposer board</a:t>
            </a:r>
            <a:endParaRPr b="0" lang="en-US" sz="2000" spc="-1" strike="noStrike">
              <a:solidFill>
                <a:srgbClr val="000000"/>
              </a:solidFill>
              <a:latin typeface="Arial"/>
            </a:endParaRPr>
          </a:p>
          <a:p>
            <a:pPr marL="252000" indent="-252000">
              <a:lnSpc>
                <a:spcPct val="100000"/>
              </a:lnSpc>
              <a:buClr>
                <a:srgbClr val="0369a3"/>
              </a:buClr>
              <a:buSzPct val="70000"/>
              <a:buFont typeface="Wingdings" charset="2"/>
              <a:buChar char=""/>
              <a:tabLst>
                <a:tab algn="l" pos="0"/>
              </a:tabLst>
            </a:pPr>
            <a:r>
              <a:rPr b="1" lang="en-US" sz="2400" spc="-1" strike="noStrike">
                <a:solidFill>
                  <a:srgbClr val="000000"/>
                </a:solidFill>
                <a:highlight>
                  <a:srgbClr val="ffff00"/>
                </a:highlight>
                <a:latin typeface="Montserrat"/>
                <a:ea typeface="Montserrat"/>
              </a:rPr>
              <a:t>https://tinyurl.com/PicoAiBotSlides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Learn to program a robot using AI</a:t>
            </a:r>
            <a:endParaRPr b="0" lang="en-US" sz="3000" spc="-1" strike="noStrike">
              <a:solidFill>
                <a:srgbClr val="000000"/>
              </a:solidFill>
              <a:latin typeface="Arial"/>
            </a:endParaRPr>
          </a:p>
        </p:txBody>
      </p:sp>
      <p:sp>
        <p:nvSpPr>
          <p:cNvPr id="26"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pic>
        <p:nvPicPr>
          <p:cNvPr id="27" name="" descr=""/>
          <p:cNvPicPr/>
          <p:nvPr/>
        </p:nvPicPr>
        <p:blipFill>
          <a:blip r:embed="rId1"/>
          <a:stretch/>
        </p:blipFill>
        <p:spPr>
          <a:xfrm>
            <a:off x="342000" y="1585800"/>
            <a:ext cx="4896000" cy="2732760"/>
          </a:xfrm>
          <a:prstGeom prst="rect">
            <a:avLst/>
          </a:prstGeom>
          <a:ln w="0">
            <a:noFill/>
          </a:ln>
        </p:spPr>
      </p:pic>
      <p:sp>
        <p:nvSpPr>
          <p:cNvPr id="28" name=""/>
          <p:cNvSpPr txBox="1"/>
          <p:nvPr/>
        </p:nvSpPr>
        <p:spPr>
          <a:xfrm>
            <a:off x="5486400" y="1143000"/>
            <a:ext cx="3348000" cy="3886200"/>
          </a:xfrm>
          <a:prstGeom prst="rect">
            <a:avLst/>
          </a:prstGeom>
          <a:noFill/>
          <a:ln w="0">
            <a:noFill/>
          </a:ln>
        </p:spPr>
        <p:txBody>
          <a:bodyPr lIns="36000" rIns="36000" tIns="36000" bIns="36000" anchor="t">
            <a:noAutofit/>
          </a:bodyPr>
          <a:p>
            <a:pPr>
              <a:lnSpc>
                <a:spcPct val="110000"/>
              </a:lnSpc>
              <a:spcAft>
                <a:spcPts val="850"/>
              </a:spcAft>
            </a:pPr>
            <a:r>
              <a:rPr b="0" lang="en-US" sz="1800" spc="-1" strike="noStrike">
                <a:solidFill>
                  <a:srgbClr val="000000"/>
                </a:solidFill>
                <a:latin typeface="Open Sans"/>
              </a:rPr>
              <a:t>Today we become </a:t>
            </a:r>
            <a:r>
              <a:rPr b="1" lang="en-US" sz="1800" spc="-1" strike="noStrike">
                <a:solidFill>
                  <a:srgbClr val="000000"/>
                </a:solidFill>
                <a:latin typeface="Open Sans"/>
              </a:rPr>
              <a:t>Embedded Systems Engineers</a:t>
            </a:r>
            <a:r>
              <a:rPr b="0" lang="en-US" sz="1800" spc="-1" strike="noStrike">
                <a:solidFill>
                  <a:srgbClr val="000000"/>
                </a:solidFill>
                <a:latin typeface="Open Sans"/>
              </a:rPr>
              <a:t>:</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Understand the robot hardware</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Use AI to generate firmware code</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1" lang="en-US" sz="1800" spc="-1" strike="noStrike">
                <a:solidFill>
                  <a:srgbClr val="000000"/>
                </a:solidFill>
                <a:latin typeface="Open Sans"/>
              </a:rPr>
              <a:t>Debug on simulator with AI OURSELVES</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Use that code to control the robot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Workshop timeline</a:t>
            </a:r>
            <a:endParaRPr b="0" lang="en-US" sz="3000" spc="-1" strike="noStrike">
              <a:solidFill>
                <a:srgbClr val="000000"/>
              </a:solidFill>
              <a:latin typeface="Arial"/>
            </a:endParaRPr>
          </a:p>
        </p:txBody>
      </p:sp>
      <p:sp>
        <p:nvSpPr>
          <p:cNvPr id="30"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graphicFrame>
        <p:nvGraphicFramePr>
          <p:cNvPr id="31" name=""/>
          <p:cNvGraphicFramePr/>
          <p:nvPr/>
        </p:nvGraphicFramePr>
        <p:xfrm>
          <a:off x="684000" y="1152000"/>
          <a:ext cx="7775640" cy="3563640"/>
        </p:xfrm>
        <a:graphic>
          <a:graphicData uri="http://schemas.openxmlformats.org/drawingml/2006/table">
            <a:tbl>
              <a:tblPr/>
              <a:tblGrid>
                <a:gridCol w="1224000"/>
                <a:gridCol w="5328000"/>
                <a:gridCol w="1224000"/>
              </a:tblGrid>
              <a:tr h="324000">
                <a:tc>
                  <a:txBody>
                    <a:bodyPr lIns="72000" rIns="72000" tIns="18000" bIns="18000" anchor="ctr">
                      <a:noAutofit/>
                    </a:bodyPr>
                    <a:p>
                      <a:pPr>
                        <a:lnSpc>
                          <a:spcPct val="110000"/>
                        </a:lnSpc>
                      </a:pPr>
                      <a:r>
                        <a:rPr b="1" lang="en-US" sz="1500" spc="-1" strike="noStrike">
                          <a:solidFill>
                            <a:srgbClr val="ffffff"/>
                          </a:solidFill>
                          <a:latin typeface="Open Sans"/>
                        </a:rPr>
                        <a:t>Start</a:t>
                      </a:r>
                      <a:endParaRPr b="0" lang="en-US" sz="1500" spc="-1" strike="noStrike">
                        <a:solidFill>
                          <a:srgbClr val="ffffff"/>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0369a3"/>
                    </a:solidFill>
                  </a:tcPr>
                </a:tc>
                <a:tc>
                  <a:txBody>
                    <a:bodyPr lIns="72000" rIns="72000" tIns="18000" bIns="18000" anchor="ctr">
                      <a:noAutofit/>
                    </a:bodyPr>
                    <a:p>
                      <a:pPr>
                        <a:lnSpc>
                          <a:spcPct val="110000"/>
                        </a:lnSpc>
                      </a:pPr>
                      <a:r>
                        <a:rPr b="1" lang="en-US" sz="1500" spc="-1" strike="noStrike">
                          <a:solidFill>
                            <a:srgbClr val="ffffff"/>
                          </a:solidFill>
                          <a:latin typeface="Open Sans"/>
                        </a:rPr>
                        <a:t>Block</a:t>
                      </a:r>
                      <a:endParaRPr b="0" lang="en-US" sz="1500" spc="-1" strike="noStrike">
                        <a:solidFill>
                          <a:srgbClr val="ffffff"/>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0369a3"/>
                    </a:solidFill>
                  </a:tcPr>
                </a:tc>
                <a:tc>
                  <a:txBody>
                    <a:bodyPr lIns="72000" rIns="72000" tIns="18000" bIns="18000" anchor="ctr">
                      <a:noAutofit/>
                    </a:bodyPr>
                    <a:p>
                      <a:pPr>
                        <a:lnSpc>
                          <a:spcPct val="110000"/>
                        </a:lnSpc>
                      </a:pPr>
                      <a:r>
                        <a:rPr b="1" lang="en-US" sz="1500" spc="-1" strike="noStrike">
                          <a:solidFill>
                            <a:srgbClr val="ffffff"/>
                          </a:solidFill>
                          <a:latin typeface="Open Sans"/>
                        </a:rPr>
                        <a:t>Minutes</a:t>
                      </a:r>
                      <a:endParaRPr b="0" lang="en-US" sz="1500" spc="-1" strike="noStrike">
                        <a:solidFill>
                          <a:srgbClr val="ffffff"/>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0369a3"/>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10:00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Laptop checks and board setup. Hand out Interposers</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15</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10:15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Intro and workflow</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10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10:25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Robot, Arduino and PWM theory</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15</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10:40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AI demo (web + cli)</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15</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10:55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Blink test</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10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11:05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AI ramp sketch</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15</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11:20 AM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Challenge design, coding and robot runs</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40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12:00 PM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6cc"/>
                    </a:solidFill>
                  </a:tcPr>
                </a:tc>
                <a:tc>
                  <a:txBody>
                    <a:bodyPr lIns="72000" rIns="72000" tIns="18000" bIns="18000" anchor="ctr">
                      <a:noAutofit/>
                    </a:bodyPr>
                    <a:p>
                      <a:pPr>
                        <a:lnSpc>
                          <a:spcPct val="110000"/>
                        </a:lnSpc>
                      </a:pPr>
                      <a:r>
                        <a:rPr b="0" lang="en-US" sz="1500" spc="-1" strike="noStrike">
                          <a:solidFill>
                            <a:srgbClr val="000000"/>
                          </a:solidFill>
                          <a:latin typeface="Open Sans"/>
                        </a:rPr>
                        <a:t>Pizza lunch</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6cc"/>
                    </a:solidFill>
                  </a:tcPr>
                </a:tc>
                <a:tc>
                  <a:txBody>
                    <a:bodyPr lIns="72000" rIns="72000" tIns="18000" bIns="18000" anchor="ctr">
                      <a:noAutofit/>
                    </a:bodyPr>
                    <a:p>
                      <a:pPr>
                        <a:lnSpc>
                          <a:spcPct val="110000"/>
                        </a:lnSpc>
                      </a:pPr>
                      <a:r>
                        <a:rPr b="0" lang="en-US" sz="1500" spc="-1" strike="noStrike">
                          <a:solidFill>
                            <a:srgbClr val="000000"/>
                          </a:solidFill>
                          <a:latin typeface="Open Sans"/>
                        </a:rPr>
                        <a:t>30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6cc"/>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12:30 PM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Robot Challenge Judging</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c>
                  <a:txBody>
                    <a:bodyPr lIns="72000" rIns="72000" tIns="18000" bIns="18000" anchor="ctr">
                      <a:noAutofit/>
                    </a:bodyPr>
                    <a:p>
                      <a:pPr>
                        <a:lnSpc>
                          <a:spcPct val="110000"/>
                        </a:lnSpc>
                      </a:pPr>
                      <a:r>
                        <a:rPr b="0" lang="en-US" sz="1500" spc="-1" strike="noStrike">
                          <a:solidFill>
                            <a:srgbClr val="000000"/>
                          </a:solidFill>
                          <a:latin typeface="Open Sans"/>
                        </a:rPr>
                        <a:t>60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ffffff"/>
                    </a:solidFill>
                  </a:tcPr>
                </a:tc>
              </a:tr>
              <a:tr h="324000">
                <a:tc>
                  <a:txBody>
                    <a:bodyPr lIns="72000" rIns="72000" tIns="18000" bIns="18000" anchor="ctr">
                      <a:noAutofit/>
                    </a:bodyPr>
                    <a:p>
                      <a:pPr>
                        <a:lnSpc>
                          <a:spcPct val="110000"/>
                        </a:lnSpc>
                      </a:pPr>
                      <a:r>
                        <a:rPr b="0" lang="en-US" sz="1500" spc="-1" strike="noStrike">
                          <a:solidFill>
                            <a:srgbClr val="000000"/>
                          </a:solidFill>
                          <a:latin typeface="Open Sans"/>
                        </a:rPr>
                        <a:t>1:30 PM</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Wrap-up</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c>
                  <a:txBody>
                    <a:bodyPr lIns="72000" rIns="72000" tIns="18000" bIns="18000" anchor="ctr">
                      <a:noAutofit/>
                    </a:bodyPr>
                    <a:p>
                      <a:pPr>
                        <a:lnSpc>
                          <a:spcPct val="110000"/>
                        </a:lnSpc>
                      </a:pPr>
                      <a:r>
                        <a:rPr b="0" lang="en-US" sz="1500" spc="-1" strike="noStrike">
                          <a:solidFill>
                            <a:srgbClr val="000000"/>
                          </a:solidFill>
                          <a:latin typeface="Open Sans"/>
                        </a:rPr>
                        <a:t>10</a:t>
                      </a:r>
                      <a:endParaRPr b="0" lang="en-US" sz="1500" spc="-1" strike="noStrike">
                        <a:solidFill>
                          <a:srgbClr val="000000"/>
                        </a:solidFill>
                        <a:latin typeface="Arial"/>
                      </a:endParaRPr>
                    </a:p>
                  </a:txBody>
                  <a:tcPr anchor="ctr" marL="72000" marR="72000">
                    <a:lnL w="720">
                      <a:solidFill>
                        <a:srgbClr val="9fb7c7"/>
                      </a:solidFill>
                      <a:prstDash val="solid"/>
                    </a:lnL>
                    <a:lnR w="720">
                      <a:solidFill>
                        <a:srgbClr val="9fb7c7"/>
                      </a:solidFill>
                      <a:prstDash val="solid"/>
                    </a:lnR>
                    <a:lnT w="720">
                      <a:solidFill>
                        <a:srgbClr val="9fb7c7"/>
                      </a:solidFill>
                      <a:prstDash val="solid"/>
                    </a:lnT>
                    <a:lnB w="720">
                      <a:solidFill>
                        <a:srgbClr val="9fb7c7"/>
                      </a:solidFill>
                      <a:prstDash val="solid"/>
                    </a:lnB>
                    <a:solidFill>
                      <a:srgbClr val="eef6fb"/>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Workflow</a:t>
            </a:r>
            <a:endParaRPr b="0" lang="en-US" sz="3000" spc="-1" strike="noStrike">
              <a:solidFill>
                <a:srgbClr val="000000"/>
              </a:solidFill>
              <a:latin typeface="Arial"/>
            </a:endParaRPr>
          </a:p>
        </p:txBody>
      </p:sp>
      <p:sp>
        <p:nvSpPr>
          <p:cNvPr id="33"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34" name=""/>
          <p:cNvSpPr txBox="1"/>
          <p:nvPr/>
        </p:nvSpPr>
        <p:spPr>
          <a:xfrm>
            <a:off x="360000" y="1116000"/>
            <a:ext cx="5256000" cy="3888000"/>
          </a:xfrm>
          <a:prstGeom prst="rect">
            <a:avLst/>
          </a:prstGeom>
          <a:noFill/>
          <a:ln w="0">
            <a:noFill/>
          </a:ln>
        </p:spPr>
        <p:txBody>
          <a:bodyPr lIns="36000" rIns="36000" tIns="36000" bIns="36000" anchor="t">
            <a:noAutofit/>
          </a:bodyPr>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1. Describe the behavior</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Plain-English requirements become the AI prompt</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2. AI generates the code (sketch)</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Arduino C/C++ with setup() and loop()</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3. Copy into the Arduino IDE</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Paste into a sketch</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4. Flash the Pico</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Compile and upload over USB</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Check the LEDs show the desired motion</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OR: Email sketch to </a:t>
            </a:r>
            <a:r>
              <a:rPr b="1" lang="en-US" sz="1400" spc="-1" strike="noStrike">
                <a:solidFill>
                  <a:srgbClr val="000000"/>
                </a:solidFill>
                <a:latin typeface="Open Sans"/>
                <a:hlinkClick r:id="rId1"/>
              </a:rPr>
              <a:t>meetdprg@gmail.com</a:t>
            </a:r>
            <a:r>
              <a:rPr b="1" lang="en-US" sz="1400" spc="-1" strike="noStrike">
                <a:solidFill>
                  <a:srgbClr val="000000"/>
                </a:solidFill>
                <a:latin typeface="Open Sans"/>
              </a:rPr>
              <a:t> </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0" lang="en-US" sz="1400" spc="-1" strike="noStrike">
                <a:solidFill>
                  <a:srgbClr val="000000"/>
                </a:solidFill>
                <a:latin typeface="Open Sans"/>
              </a:rPr>
              <a:t>Ask meetdprg to burn a pico, check LEDs</a:t>
            </a:r>
            <a:endParaRPr b="0" lang="en-US" sz="1400" spc="-1" strike="noStrike">
              <a:solidFill>
                <a:srgbClr val="000000"/>
              </a:solidFill>
              <a:latin typeface="Arial"/>
            </a:endParaRPr>
          </a:p>
          <a:p>
            <a:pPr marL="252000" indent="-252000">
              <a:lnSpc>
                <a:spcPct val="110000"/>
              </a:lnSpc>
              <a:spcAft>
                <a:spcPts val="340"/>
              </a:spcAft>
              <a:buClr>
                <a:srgbClr val="0369a3"/>
              </a:buClr>
              <a:buSzPct val="70000"/>
              <a:buFont typeface="Wingdings" charset="2"/>
              <a:buChar char=""/>
            </a:pPr>
            <a:r>
              <a:rPr b="1" lang="en-US" sz="1400" spc="-1" strike="noStrike">
                <a:solidFill>
                  <a:srgbClr val="000000"/>
                </a:solidFill>
                <a:latin typeface="Open Sans"/>
              </a:rPr>
              <a:t>5. Ask Robot Wrangler to run it on the robot</a:t>
            </a:r>
            <a:endParaRPr b="0" lang="en-US" sz="1400" spc="-1" strike="noStrike">
              <a:solidFill>
                <a:srgbClr val="000000"/>
              </a:solidFill>
              <a:latin typeface="Arial"/>
            </a:endParaRPr>
          </a:p>
          <a:p>
            <a:pPr lvl="1" marL="504000" indent="-216000">
              <a:lnSpc>
                <a:spcPct val="110000"/>
              </a:lnSpc>
              <a:spcAft>
                <a:spcPts val="340"/>
              </a:spcAft>
              <a:buClr>
                <a:srgbClr val="0369a3"/>
              </a:buClr>
              <a:buFont typeface="Symbol" charset="2"/>
              <a:buChar char=""/>
            </a:pPr>
            <a:r>
              <a:rPr b="0" lang="en-US" sz="1400" spc="-1" strike="noStrike">
                <a:solidFill>
                  <a:srgbClr val="000000"/>
                </a:solidFill>
                <a:latin typeface="Open Sans"/>
              </a:rPr>
              <a:t>Mount the Interposer on the robot and power up</a:t>
            </a:r>
            <a:endParaRPr b="0" lang="en-US" sz="1400" spc="-1" strike="noStrike">
              <a:solidFill>
                <a:srgbClr val="000000"/>
              </a:solidFill>
              <a:latin typeface="Arial"/>
            </a:endParaRPr>
          </a:p>
        </p:txBody>
      </p:sp>
      <p:pic>
        <p:nvPicPr>
          <p:cNvPr id="35" name="" descr=""/>
          <p:cNvPicPr/>
          <p:nvPr/>
        </p:nvPicPr>
        <p:blipFill>
          <a:blip r:embed="rId2"/>
          <a:stretch/>
        </p:blipFill>
        <p:spPr>
          <a:xfrm>
            <a:off x="5486400" y="360000"/>
            <a:ext cx="3504960" cy="429552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What is Arduino?</a:t>
            </a:r>
            <a:endParaRPr b="0" lang="en-US" sz="3000" spc="-1" strike="noStrike">
              <a:solidFill>
                <a:srgbClr val="000000"/>
              </a:solidFill>
              <a:latin typeface="Arial"/>
            </a:endParaRPr>
          </a:p>
        </p:txBody>
      </p:sp>
      <p:sp>
        <p:nvSpPr>
          <p:cNvPr id="37"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38" name=""/>
          <p:cNvSpPr txBox="1"/>
          <p:nvPr/>
        </p:nvSpPr>
        <p:spPr>
          <a:xfrm>
            <a:off x="360000" y="1116000"/>
            <a:ext cx="4464000" cy="3888000"/>
          </a:xfrm>
          <a:prstGeom prst="rect">
            <a:avLst/>
          </a:prstGeom>
          <a:noFill/>
          <a:ln w="0">
            <a:noFill/>
          </a:ln>
        </p:spPr>
        <p:txBody>
          <a:bodyPr lIns="36000" rIns="36000" tIns="36000" bIns="36000" anchor="t">
            <a:noAutofit/>
          </a:bodyPr>
          <a:p>
            <a:pPr marL="252000" indent="-252000">
              <a:lnSpc>
                <a:spcPct val="110000"/>
              </a:lnSpc>
              <a:spcAft>
                <a:spcPts val="567"/>
              </a:spcAft>
              <a:buClr>
                <a:srgbClr val="0369a3"/>
              </a:buClr>
              <a:buSzPct val="70000"/>
              <a:buFont typeface="Wingdings" charset="2"/>
              <a:buChar char=""/>
            </a:pPr>
            <a:r>
              <a:rPr b="1" lang="en-US" sz="1500" spc="-1" strike="noStrike">
                <a:solidFill>
                  <a:srgbClr val="000000"/>
                </a:solidFill>
                <a:latin typeface="Open Sans"/>
              </a:rPr>
              <a:t>Arduino</a:t>
            </a:r>
            <a:r>
              <a:rPr b="0" lang="en-US" sz="1500" spc="-1" strike="noStrike">
                <a:solidFill>
                  <a:srgbClr val="000000"/>
                </a:solidFill>
                <a:latin typeface="Open Sans"/>
              </a:rPr>
              <a:t>: a microcontroller running firmware in the Arduino environment</a:t>
            </a:r>
            <a:endParaRPr b="0" lang="en-US" sz="1500" spc="-1" strike="noStrike">
              <a:solidFill>
                <a:srgbClr val="000000"/>
              </a:solidFill>
              <a:latin typeface="Arial"/>
            </a:endParaRPr>
          </a:p>
          <a:p>
            <a:pPr marL="252000" indent="-252000">
              <a:lnSpc>
                <a:spcPct val="110000"/>
              </a:lnSpc>
              <a:spcAft>
                <a:spcPts val="567"/>
              </a:spcAft>
              <a:buClr>
                <a:srgbClr val="0369a3"/>
              </a:buClr>
              <a:buSzPct val="70000"/>
              <a:buFont typeface="Wingdings" charset="2"/>
              <a:buChar char=""/>
            </a:pPr>
            <a:r>
              <a:rPr b="0" lang="en-US" sz="1500" spc="-1" strike="noStrike">
                <a:solidFill>
                  <a:srgbClr val="000000"/>
                </a:solidFill>
                <a:latin typeface="Open Sans"/>
              </a:rPr>
              <a:t>The Arduino environment:</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Courier New"/>
              </a:rPr>
              <a:t>setup()</a:t>
            </a:r>
            <a:r>
              <a:rPr b="0" lang="en-US" sz="1500" spc="-1" strike="noStrike">
                <a:solidFill>
                  <a:srgbClr val="000000"/>
                </a:solidFill>
                <a:latin typeface="Open Sans"/>
              </a:rPr>
              <a:t> runs once at power-up</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Courier New"/>
              </a:rPr>
              <a:t>loop()</a:t>
            </a:r>
            <a:r>
              <a:rPr b="0" lang="en-US" sz="1500" spc="-1" strike="noStrike">
                <a:solidFill>
                  <a:srgbClr val="000000"/>
                </a:solidFill>
                <a:latin typeface="Open Sans"/>
              </a:rPr>
              <a:t> runs over and over, forever</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Arduino language: C/C++ plus easy hardware functions</a:t>
            </a:r>
            <a:endParaRPr b="0" lang="en-US" sz="1500" spc="-1" strike="noStrike">
              <a:solidFill>
                <a:srgbClr val="000000"/>
              </a:solidFill>
              <a:latin typeface="Arial"/>
            </a:endParaRPr>
          </a:p>
          <a:p>
            <a:pPr marL="252000" indent="-252000">
              <a:lnSpc>
                <a:spcPct val="110000"/>
              </a:lnSpc>
              <a:spcAft>
                <a:spcPts val="567"/>
              </a:spcAft>
              <a:buClr>
                <a:srgbClr val="0369a3"/>
              </a:buClr>
              <a:buSzPct val="70000"/>
              <a:buFont typeface="Wingdings" charset="2"/>
              <a:buChar char=""/>
            </a:pPr>
            <a:r>
              <a:rPr b="0" lang="en-US" sz="1500" spc="-1" strike="noStrike">
                <a:solidFill>
                  <a:srgbClr val="000000"/>
                </a:solidFill>
                <a:latin typeface="Open Sans"/>
              </a:rPr>
              <a:t>AI writes code like this. You copy/paste it from the browser into the Arduino IDE, build it, and load it into the Pico</a:t>
            </a:r>
            <a:endParaRPr b="0" lang="en-US" sz="1500" spc="-1" strike="noStrike">
              <a:solidFill>
                <a:srgbClr val="000000"/>
              </a:solidFill>
              <a:latin typeface="Arial"/>
            </a:endParaRPr>
          </a:p>
          <a:p>
            <a:pPr marL="252000" indent="-252000">
              <a:lnSpc>
                <a:spcPct val="110000"/>
              </a:lnSpc>
              <a:spcAft>
                <a:spcPts val="567"/>
              </a:spcAft>
              <a:buClr>
                <a:srgbClr val="0369a3"/>
              </a:buClr>
              <a:buSzPct val="70000"/>
              <a:buFont typeface="Wingdings" charset="2"/>
              <a:buChar char=""/>
            </a:pPr>
            <a:r>
              <a:rPr b="0" lang="en-US" sz="1500" spc="-1" strike="noStrike">
                <a:solidFill>
                  <a:srgbClr val="000000"/>
                </a:solidFill>
                <a:latin typeface="Open Sans"/>
              </a:rPr>
              <a:t>Interposer LEDs light when the motors would run</a:t>
            </a:r>
            <a:endParaRPr b="0" lang="en-US" sz="1500" spc="-1" strike="noStrike">
              <a:solidFill>
                <a:srgbClr val="000000"/>
              </a:solidFill>
              <a:latin typeface="Arial"/>
            </a:endParaRPr>
          </a:p>
        </p:txBody>
      </p:sp>
      <p:pic>
        <p:nvPicPr>
          <p:cNvPr id="39" name="" descr=""/>
          <p:cNvPicPr/>
          <p:nvPr/>
        </p:nvPicPr>
        <p:blipFill>
          <a:blip r:embed="rId1"/>
          <a:stretch/>
        </p:blipFill>
        <p:spPr>
          <a:xfrm>
            <a:off x="4968000" y="1482840"/>
            <a:ext cx="3852000" cy="29026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Pico Pinout</a:t>
            </a:r>
            <a:endParaRPr b="0" lang="en-US" sz="3000" spc="-1" strike="noStrike">
              <a:solidFill>
                <a:srgbClr val="000000"/>
              </a:solidFill>
              <a:latin typeface="Arial"/>
            </a:endParaRPr>
          </a:p>
        </p:txBody>
      </p:sp>
      <p:sp>
        <p:nvSpPr>
          <p:cNvPr id="41"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42" name=""/>
          <p:cNvSpPr txBox="1"/>
          <p:nvPr/>
        </p:nvSpPr>
        <p:spPr>
          <a:xfrm>
            <a:off x="360000" y="1116000"/>
            <a:ext cx="3024000" cy="3888000"/>
          </a:xfrm>
          <a:prstGeom prst="rect">
            <a:avLst/>
          </a:prstGeom>
          <a:noFill/>
          <a:ln w="0">
            <a:noFill/>
          </a:ln>
        </p:spPr>
        <p:txBody>
          <a:bodyPr lIns="36000" rIns="36000" tIns="36000" bIns="36000" anchor="t">
            <a:noAutofit/>
          </a:bodyPr>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The Pico is very versatile. Each pin can be:</a:t>
            </a:r>
            <a:endParaRPr b="0" lang="en-US" sz="1600" spc="-1" strike="noStrike">
              <a:solidFill>
                <a:srgbClr val="000000"/>
              </a:solidFill>
              <a:latin typeface="Arial"/>
            </a:endParaRPr>
          </a:p>
          <a:p>
            <a:pPr lvl="1" marL="504000" indent="-216000">
              <a:lnSpc>
                <a:spcPct val="110000"/>
              </a:lnSpc>
              <a:spcAft>
                <a:spcPts val="709"/>
              </a:spcAft>
              <a:buClr>
                <a:srgbClr val="0369a3"/>
              </a:buClr>
              <a:buFont typeface="Symbol" charset="2"/>
              <a:buChar char=""/>
            </a:pPr>
            <a:r>
              <a:rPr b="0" lang="en-US" sz="1600" spc="-1" strike="noStrike">
                <a:solidFill>
                  <a:srgbClr val="000000"/>
                </a:solidFill>
                <a:latin typeface="Open Sans"/>
              </a:rPr>
              <a:t>Digital input or output</a:t>
            </a:r>
            <a:endParaRPr b="0" lang="en-US" sz="1600" spc="-1" strike="noStrike">
              <a:solidFill>
                <a:srgbClr val="000000"/>
              </a:solidFill>
              <a:latin typeface="Arial"/>
            </a:endParaRPr>
          </a:p>
          <a:p>
            <a:pPr lvl="1" marL="504000" indent="-216000">
              <a:lnSpc>
                <a:spcPct val="110000"/>
              </a:lnSpc>
              <a:spcAft>
                <a:spcPts val="709"/>
              </a:spcAft>
              <a:buClr>
                <a:srgbClr val="0369a3"/>
              </a:buClr>
              <a:buFont typeface="Symbol" charset="2"/>
              <a:buChar char=""/>
            </a:pPr>
            <a:r>
              <a:rPr b="0" lang="en-US" sz="1600" spc="-1" strike="noStrike">
                <a:solidFill>
                  <a:srgbClr val="000000"/>
                </a:solidFill>
                <a:latin typeface="Open Sans"/>
              </a:rPr>
              <a:t>Analog input</a:t>
            </a:r>
            <a:endParaRPr b="0" lang="en-US" sz="1600" spc="-1" strike="noStrike">
              <a:solidFill>
                <a:srgbClr val="000000"/>
              </a:solidFill>
              <a:latin typeface="Arial"/>
            </a:endParaRPr>
          </a:p>
          <a:p>
            <a:pPr lvl="1" marL="504000" indent="-216000">
              <a:lnSpc>
                <a:spcPct val="110000"/>
              </a:lnSpc>
              <a:spcAft>
                <a:spcPts val="709"/>
              </a:spcAft>
              <a:buClr>
                <a:srgbClr val="0369a3"/>
              </a:buClr>
              <a:buFont typeface="Symbol" charset="2"/>
              <a:buChar char=""/>
            </a:pPr>
            <a:r>
              <a:rPr b="0" lang="en-US" sz="1600" spc="-1" strike="noStrike">
                <a:solidFill>
                  <a:srgbClr val="000000"/>
                </a:solidFill>
                <a:latin typeface="Open Sans"/>
              </a:rPr>
              <a:t>I2C bus communication</a:t>
            </a:r>
            <a:endParaRPr b="0" lang="en-US" sz="1600" spc="-1" strike="noStrike">
              <a:solidFill>
                <a:srgbClr val="000000"/>
              </a:solidFill>
              <a:latin typeface="Arial"/>
            </a:endParaRPr>
          </a:p>
          <a:p>
            <a:pPr lvl="1" marL="504000" indent="-216000">
              <a:lnSpc>
                <a:spcPct val="110000"/>
              </a:lnSpc>
              <a:spcAft>
                <a:spcPts val="709"/>
              </a:spcAft>
              <a:buClr>
                <a:srgbClr val="0369a3"/>
              </a:buClr>
              <a:buFont typeface="Symbol" charset="2"/>
              <a:buChar char=""/>
            </a:pPr>
            <a:r>
              <a:rPr b="0" lang="en-US" sz="1600" spc="-1" strike="noStrike">
                <a:solidFill>
                  <a:srgbClr val="000000"/>
                </a:solidFill>
                <a:latin typeface="Open Sans"/>
              </a:rPr>
              <a:t>Timer / PWM</a:t>
            </a:r>
            <a:endParaRPr b="0" lang="en-US" sz="1600" spc="-1" strike="noStrike">
              <a:solidFill>
                <a:srgbClr val="000000"/>
              </a:solidFill>
              <a:latin typeface="Arial"/>
            </a:endParaRPr>
          </a:p>
          <a:p>
            <a:pPr lvl="1" marL="504000" indent="-216000">
              <a:lnSpc>
                <a:spcPct val="110000"/>
              </a:lnSpc>
              <a:spcAft>
                <a:spcPts val="709"/>
              </a:spcAft>
              <a:buClr>
                <a:srgbClr val="0369a3"/>
              </a:buClr>
              <a:buFont typeface="Symbol" charset="2"/>
              <a:buChar char=""/>
            </a:pPr>
            <a:r>
              <a:rPr b="0" lang="en-US" sz="1600" spc="-1" strike="noStrike">
                <a:solidFill>
                  <a:srgbClr val="000000"/>
                </a:solidFill>
                <a:latin typeface="Open Sans"/>
              </a:rPr>
              <a:t>OR… OR… OR…</a:t>
            </a:r>
            <a:endParaRPr b="0" lang="en-US" sz="1600" spc="-1" strike="noStrike">
              <a:solidFill>
                <a:srgbClr val="000000"/>
              </a:solidFill>
              <a:latin typeface="Arial"/>
            </a:endParaRPr>
          </a:p>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We use only </a:t>
            </a:r>
            <a:r>
              <a:rPr b="1" lang="en-US" sz="1600" spc="-1" strike="noStrike">
                <a:solidFill>
                  <a:srgbClr val="000000"/>
                </a:solidFill>
                <a:latin typeface="Open Sans"/>
              </a:rPr>
              <a:t>2 pins: GP0 and GP1</a:t>
            </a:r>
            <a:r>
              <a:rPr b="0" lang="en-US" sz="1600" spc="-1" strike="noStrike">
                <a:solidFill>
                  <a:srgbClr val="000000"/>
                </a:solidFill>
                <a:latin typeface="Open Sans"/>
              </a:rPr>
              <a:t>, as outputs that drive the LEDs and motors</a:t>
            </a:r>
            <a:endParaRPr b="0" lang="en-US" sz="1600" spc="-1" strike="noStrike">
              <a:solidFill>
                <a:srgbClr val="000000"/>
              </a:solidFill>
              <a:latin typeface="Arial"/>
            </a:endParaRPr>
          </a:p>
        </p:txBody>
      </p:sp>
      <p:pic>
        <p:nvPicPr>
          <p:cNvPr id="43" name="" descr=""/>
          <p:cNvPicPr/>
          <p:nvPr/>
        </p:nvPicPr>
        <p:blipFill>
          <a:blip r:embed="rId1"/>
          <a:stretch/>
        </p:blipFill>
        <p:spPr>
          <a:xfrm>
            <a:off x="3456000" y="1163160"/>
            <a:ext cx="5364000" cy="36860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Interposer board</a:t>
            </a:r>
            <a:endParaRPr b="0" lang="en-US" sz="3000" spc="-1" strike="noStrike">
              <a:solidFill>
                <a:srgbClr val="000000"/>
              </a:solidFill>
              <a:latin typeface="Arial"/>
            </a:endParaRPr>
          </a:p>
        </p:txBody>
      </p:sp>
      <p:sp>
        <p:nvSpPr>
          <p:cNvPr id="45"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46" name=""/>
          <p:cNvSpPr txBox="1"/>
          <p:nvPr/>
        </p:nvSpPr>
        <p:spPr>
          <a:xfrm>
            <a:off x="360000" y="1116000"/>
            <a:ext cx="4896000" cy="3888000"/>
          </a:xfrm>
          <a:prstGeom prst="rect">
            <a:avLst/>
          </a:prstGeom>
          <a:noFill/>
          <a:ln w="0">
            <a:noFill/>
          </a:ln>
        </p:spPr>
        <p:txBody>
          <a:bodyPr lIns="36000" rIns="36000" tIns="36000" bIns="36000" anchor="t">
            <a:noAutofit/>
          </a:bodyPr>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The Interposer goes </a:t>
            </a:r>
            <a:r>
              <a:rPr b="1" lang="en-US" sz="1600" spc="-1" strike="noStrike">
                <a:solidFill>
                  <a:srgbClr val="000000"/>
                </a:solidFill>
                <a:latin typeface="Open Sans"/>
              </a:rPr>
              <a:t>between</a:t>
            </a:r>
            <a:r>
              <a:rPr b="0" lang="en-US" sz="1600" spc="-1" strike="noStrike">
                <a:solidFill>
                  <a:srgbClr val="000000"/>
                </a:solidFill>
                <a:latin typeface="Open Sans"/>
              </a:rPr>
              <a:t> the Pico and the robot circuit board</a:t>
            </a:r>
            <a:endParaRPr b="0" lang="en-US" sz="1600" spc="-1" strike="noStrike">
              <a:solidFill>
                <a:srgbClr val="000000"/>
              </a:solidFill>
              <a:latin typeface="Arial"/>
            </a:endParaRPr>
          </a:p>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GP0 and GP1 drive the LEDs and the motor-run signals out to the robot</a:t>
            </a:r>
            <a:endParaRPr b="0" lang="en-US" sz="1600" spc="-1" strike="noStrike">
              <a:solidFill>
                <a:srgbClr val="000000"/>
              </a:solidFill>
              <a:latin typeface="Arial"/>
            </a:endParaRPr>
          </a:p>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It is your </a:t>
            </a:r>
            <a:r>
              <a:rPr b="1" lang="en-US" sz="1600" spc="-1" strike="noStrike">
                <a:solidFill>
                  <a:srgbClr val="000000"/>
                </a:solidFill>
                <a:latin typeface="Open Sans"/>
              </a:rPr>
              <a:t>personal robot simulator</a:t>
            </a:r>
            <a:r>
              <a:rPr b="0" lang="en-US" sz="1600" spc="-1" strike="noStrike">
                <a:solidFill>
                  <a:srgbClr val="000000"/>
                </a:solidFill>
                <a:latin typeface="Open Sans"/>
              </a:rPr>
              <a:t>: generate code with AI, load it into the Pico, and watch the LEDs. ON means that wheel's motor will run</a:t>
            </a:r>
            <a:endParaRPr b="0" lang="en-US" sz="1600" spc="-1" strike="noStrike">
              <a:solidFill>
                <a:srgbClr val="000000"/>
              </a:solidFill>
              <a:latin typeface="Arial"/>
            </a:endParaRPr>
          </a:p>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Happy with the LEDs? Mount your Interposer on the </a:t>
            </a:r>
            <a:r>
              <a:rPr b="1" lang="en-US" sz="1600" spc="-1" strike="noStrike">
                <a:solidFill>
                  <a:srgbClr val="000000"/>
                </a:solidFill>
                <a:latin typeface="Open Sans"/>
              </a:rPr>
              <a:t>SHARED</a:t>
            </a:r>
            <a:r>
              <a:rPr b="0" lang="en-US" sz="1600" spc="-1" strike="noStrike">
                <a:solidFill>
                  <a:srgbClr val="000000"/>
                </a:solidFill>
                <a:latin typeface="Open Sans"/>
              </a:rPr>
              <a:t> robot</a:t>
            </a:r>
            <a:endParaRPr b="0" lang="en-US" sz="1600" spc="-1" strike="noStrike">
              <a:solidFill>
                <a:srgbClr val="000000"/>
              </a:solidFill>
              <a:latin typeface="Arial"/>
            </a:endParaRPr>
          </a:p>
        </p:txBody>
      </p:sp>
      <p:pic>
        <p:nvPicPr>
          <p:cNvPr id="47" name="" descr=""/>
          <p:cNvPicPr/>
          <p:nvPr/>
        </p:nvPicPr>
        <p:blipFill>
          <a:blip r:embed="rId1"/>
          <a:stretch/>
        </p:blipFill>
        <p:spPr>
          <a:xfrm>
            <a:off x="5364000" y="1095840"/>
            <a:ext cx="3456000" cy="38203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Arduino-Pico + Robot Overview</a:t>
            </a:r>
            <a:endParaRPr b="0" lang="en-US" sz="3000" spc="-1" strike="noStrike">
              <a:solidFill>
                <a:srgbClr val="000000"/>
              </a:solidFill>
              <a:latin typeface="Arial"/>
            </a:endParaRPr>
          </a:p>
        </p:txBody>
      </p:sp>
      <p:sp>
        <p:nvSpPr>
          <p:cNvPr id="49"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pic>
        <p:nvPicPr>
          <p:cNvPr id="50" name="" descr=""/>
          <p:cNvPicPr/>
          <p:nvPr/>
        </p:nvPicPr>
        <p:blipFill>
          <a:blip r:embed="rId1"/>
          <a:stretch/>
        </p:blipFill>
        <p:spPr>
          <a:xfrm>
            <a:off x="1469880" y="1044000"/>
            <a:ext cx="6203880" cy="3384000"/>
          </a:xfrm>
          <a:prstGeom prst="rect">
            <a:avLst/>
          </a:prstGeom>
          <a:ln w="0">
            <a:noFill/>
          </a:ln>
        </p:spPr>
      </p:pic>
      <p:sp>
        <p:nvSpPr>
          <p:cNvPr id="51" name=""/>
          <p:cNvSpPr txBox="1"/>
          <p:nvPr/>
        </p:nvSpPr>
        <p:spPr>
          <a:xfrm>
            <a:off x="360000" y="4446000"/>
            <a:ext cx="8424000" cy="468000"/>
          </a:xfrm>
          <a:prstGeom prst="rect">
            <a:avLst/>
          </a:prstGeom>
          <a:noFill/>
          <a:ln w="0">
            <a:noFill/>
          </a:ln>
        </p:spPr>
        <p:txBody>
          <a:bodyPr lIns="36000" rIns="36000" tIns="36000" bIns="36000" anchor="t">
            <a:noAutofit/>
          </a:bodyPr>
          <a:p>
            <a:pPr algn="ctr">
              <a:lnSpc>
                <a:spcPct val="110000"/>
              </a:lnSpc>
              <a:spcAft>
                <a:spcPts val="567"/>
              </a:spcAft>
            </a:pPr>
            <a:r>
              <a:rPr b="0" i="1" lang="en-US" sz="1500" spc="-1" strike="noStrike">
                <a:solidFill>
                  <a:srgbClr val="333333"/>
                </a:solidFill>
                <a:latin typeface="Open Sans"/>
              </a:rPr>
              <a:t>Each Pico pin drives a transistor switch for one motor: GP1 → Left, GP0 → Right. Pin LOW = switch closed = motor runs.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4f0"/>
        </a:solidFill>
      </p:bgPr>
    </p:bg>
    <p:spTree>
      <p:nvGrpSpPr>
        <p:cNvPr id="1" name=""/>
        <p:cNvGrpSpPr/>
        <p:nvPr/>
      </p:nvGrpSpPr>
      <p:grpSpPr>
        <a:xfrm>
          <a:off x="0" y="0"/>
          <a:ext cx="0" cy="0"/>
          <a:chOff x="0" y="0"/>
          <a:chExt cx="0" cy="0"/>
        </a:xfrm>
      </p:grpSpPr>
      <p:pic>
        <p:nvPicPr>
          <p:cNvPr id="52" name="Google Shape;154;p17" descr=""/>
          <p:cNvPicPr/>
          <p:nvPr/>
        </p:nvPicPr>
        <p:blipFill>
          <a:blip r:embed="rId1"/>
          <a:stretch/>
        </p:blipFill>
        <p:spPr>
          <a:xfrm>
            <a:off x="0" y="0"/>
            <a:ext cx="9143640" cy="5143320"/>
          </a:xfrm>
          <a:prstGeom prst="rect">
            <a:avLst/>
          </a:prstGeom>
          <a:ln w="0">
            <a:noFill/>
          </a:ln>
        </p:spPr>
      </p:pic>
      <p:grpSp>
        <p:nvGrpSpPr>
          <p:cNvPr id="53" name="Google Shape;155;p 2"/>
          <p:cNvGrpSpPr/>
          <p:nvPr/>
        </p:nvGrpSpPr>
        <p:grpSpPr>
          <a:xfrm>
            <a:off x="380880" y="190440"/>
            <a:ext cx="8381520" cy="257040"/>
            <a:chOff x="380880" y="190440"/>
            <a:chExt cx="8381520" cy="257040"/>
          </a:xfrm>
        </p:grpSpPr>
        <p:sp>
          <p:nvSpPr>
            <p:cNvPr id="54" name="Google Shape;156;p 2"/>
            <p:cNvSpPr/>
            <p:nvPr/>
          </p:nvSpPr>
          <p:spPr>
            <a:xfrm>
              <a:off x="380880" y="190440"/>
              <a:ext cx="8381520" cy="228240"/>
            </a:xfrm>
            <a:prstGeom prst="rect">
              <a:avLst/>
            </a:prstGeom>
            <a:solidFill>
              <a:srgbClr val="111111"/>
            </a:solidFill>
            <a:ln w="0">
              <a:noFill/>
            </a:ln>
          </p:spPr>
          <p:style>
            <a:lnRef idx="0"/>
            <a:fillRef idx="0"/>
            <a:effectRef idx="0"/>
            <a:fontRef idx="minor"/>
          </p:style>
          <p:txBody>
            <a:bodyPr lIns="0" rIns="0" tIns="0" bIns="0" anchor="ctr">
              <a:noAutofit/>
            </a:bodyPr>
            <a:p>
              <a:endParaRPr b="0" lang="en-US" sz="1400" spc="-1" strike="noStrike">
                <a:solidFill>
                  <a:srgbClr val="ffffff"/>
                </a:solidFill>
                <a:latin typeface="Arial"/>
              </a:endParaRPr>
            </a:p>
          </p:txBody>
        </p:sp>
        <p:sp>
          <p:nvSpPr>
            <p:cNvPr id="55" name="Google Shape;157;p 2"/>
            <p:cNvSpPr/>
            <p:nvPr/>
          </p:nvSpPr>
          <p:spPr>
            <a:xfrm>
              <a:off x="476280" y="219240"/>
              <a:ext cx="8191080" cy="2282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900" spc="-1" strike="noStrike">
                  <a:solidFill>
                    <a:srgbClr val="f4f4f0"/>
                  </a:solidFill>
                  <a:latin typeface="Space Mono"/>
                  <a:ea typeface="Space Mono"/>
                </a:rPr>
                <a:t>SYS.WORKFLOW // ARDUINO_ROBOTICS // PWM_CONTROL</a:t>
              </a:r>
              <a:endParaRPr b="0" lang="en-US" sz="900" spc="-1" strike="noStrike">
                <a:solidFill>
                  <a:srgbClr val="000000"/>
                </a:solidFill>
                <a:latin typeface="Arial"/>
              </a:endParaRPr>
            </a:p>
          </p:txBody>
        </p:sp>
      </p:grpSp>
      <p:sp>
        <p:nvSpPr>
          <p:cNvPr id="56" name="Google Shape;158;p 2"/>
          <p:cNvSpPr/>
          <p:nvPr/>
        </p:nvSpPr>
        <p:spPr>
          <a:xfrm>
            <a:off x="4572000" y="571680"/>
            <a:ext cx="360" cy="4190760"/>
          </a:xfrm>
          <a:prstGeom prst="straightConnector1">
            <a:avLst/>
          </a:prstGeom>
          <a:solidFill>
            <a:srgbClr val="ffffff"/>
          </a:solidFill>
          <a:ln w="19080">
            <a:solidFill>
              <a:srgbClr val="11111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7" name="Google Shape;159;p 2"/>
          <p:cNvSpPr/>
          <p:nvPr/>
        </p:nvSpPr>
        <p:spPr>
          <a:xfrm>
            <a:off x="476280" y="571680"/>
            <a:ext cx="3904920" cy="23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100" spc="-1" strike="noStrike">
                <a:solidFill>
                  <a:srgbClr val="e63946"/>
                </a:solidFill>
                <a:latin typeface="Space Mono"/>
                <a:ea typeface="Space Mono"/>
              </a:rPr>
              <a:t>PULSE WIDTH MODULATION</a:t>
            </a:r>
            <a:endParaRPr b="0" lang="en-US" sz="1100" spc="-1" strike="noStrike">
              <a:solidFill>
                <a:srgbClr val="ffffff"/>
              </a:solidFill>
              <a:latin typeface="Arial"/>
            </a:endParaRPr>
          </a:p>
        </p:txBody>
      </p:sp>
      <p:sp>
        <p:nvSpPr>
          <p:cNvPr id="58" name="Google Shape;160;p 2"/>
          <p:cNvSpPr/>
          <p:nvPr/>
        </p:nvSpPr>
        <p:spPr>
          <a:xfrm>
            <a:off x="476280" y="809640"/>
            <a:ext cx="3904920" cy="809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600" spc="-1" strike="noStrike">
                <a:solidFill>
                  <a:srgbClr val="111111"/>
                </a:solidFill>
                <a:latin typeface="Work Sans"/>
                <a:ea typeface="Work Sans"/>
              </a:rPr>
              <a:t>PWM Governs Motor Speed Through Precise Control of the Average Applied Power Duration.</a:t>
            </a:r>
            <a:endParaRPr b="0" lang="en-US" sz="1600" spc="-1" strike="noStrike">
              <a:solidFill>
                <a:srgbClr val="000000"/>
              </a:solidFill>
              <a:latin typeface="Arial"/>
            </a:endParaRPr>
          </a:p>
        </p:txBody>
      </p:sp>
      <p:grpSp>
        <p:nvGrpSpPr>
          <p:cNvPr id="59" name="Google Shape;161;p 2"/>
          <p:cNvGrpSpPr/>
          <p:nvPr/>
        </p:nvGrpSpPr>
        <p:grpSpPr>
          <a:xfrm>
            <a:off x="476280" y="1666800"/>
            <a:ext cx="3904920" cy="1047600"/>
            <a:chOff x="476280" y="1666800"/>
            <a:chExt cx="3904920" cy="1047600"/>
          </a:xfrm>
        </p:grpSpPr>
        <p:sp>
          <p:nvSpPr>
            <p:cNvPr id="60" name="Google Shape;162;p 2"/>
            <p:cNvSpPr/>
            <p:nvPr/>
          </p:nvSpPr>
          <p:spPr>
            <a:xfrm>
              <a:off x="476280" y="1666800"/>
              <a:ext cx="3904920" cy="8092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5040" spc="-1" strike="noStrike">
                  <a:solidFill>
                    <a:srgbClr val="e63946"/>
                  </a:solidFill>
                  <a:latin typeface="Work Sans"/>
                  <a:ea typeface="Work Sans"/>
                </a:rPr>
                <a:t>255</a:t>
              </a:r>
              <a:endParaRPr b="0" lang="en-US" sz="5040" spc="-1" strike="noStrike">
                <a:solidFill>
                  <a:srgbClr val="000000"/>
                </a:solidFill>
                <a:latin typeface="Arial"/>
              </a:endParaRPr>
            </a:p>
          </p:txBody>
        </p:sp>
        <p:sp>
          <p:nvSpPr>
            <p:cNvPr id="61" name="Google Shape;163;p 2"/>
            <p:cNvSpPr/>
            <p:nvPr/>
          </p:nvSpPr>
          <p:spPr>
            <a:xfrm>
              <a:off x="476280" y="2476440"/>
              <a:ext cx="3904920" cy="2379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1100" spc="-1" strike="noStrike">
                  <a:solidFill>
                    <a:srgbClr val="111111"/>
                  </a:solidFill>
                  <a:latin typeface="Space Mono"/>
                  <a:ea typeface="Space Mono"/>
                </a:rPr>
                <a:t>MAX SIGNAL VALUE (ANALOGWRITE RANGE: 0–255)</a:t>
              </a:r>
              <a:endParaRPr b="0" lang="en-US" sz="1100" spc="-1" strike="noStrike">
                <a:solidFill>
                  <a:srgbClr val="000000"/>
                </a:solidFill>
                <a:latin typeface="Arial"/>
              </a:endParaRPr>
            </a:p>
          </p:txBody>
        </p:sp>
      </p:grpSp>
      <p:sp>
        <p:nvSpPr>
          <p:cNvPr id="62" name="Google Shape;164;p 2"/>
          <p:cNvSpPr/>
          <p:nvPr/>
        </p:nvSpPr>
        <p:spPr>
          <a:xfrm>
            <a:off x="476280" y="2809800"/>
            <a:ext cx="3904920" cy="18568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US" sz="970" spc="-1" strike="noStrike">
                <a:solidFill>
                  <a:srgbClr val="111111"/>
                </a:solidFill>
                <a:latin typeface="Work Sans"/>
                <a:ea typeface="Work Sans"/>
              </a:rPr>
              <a:t>Controlling the speed of a DC motor requires manipulating the power it receives. Since microcontrollers typically output digital signals (fully on or fully off), we use Pulse Width Modulation (PWM) to simulate a variable analog voltage.</a:t>
            </a:r>
            <a:endParaRPr b="0" lang="en-US" sz="970" spc="-1" strike="noStrike">
              <a:solidFill>
                <a:srgbClr val="ffffff"/>
              </a:solidFill>
              <a:latin typeface="Arial"/>
            </a:endParaRPr>
          </a:p>
          <a:p>
            <a:pPr>
              <a:lnSpc>
                <a:spcPct val="100000"/>
              </a:lnSpc>
              <a:spcBef>
                <a:spcPts val="751"/>
              </a:spcBef>
              <a:tabLst>
                <a:tab algn="l" pos="0"/>
              </a:tabLst>
            </a:pPr>
            <a:r>
              <a:rPr b="1" lang="en-US" sz="930" spc="-1" strike="noStrike">
                <a:solidFill>
                  <a:srgbClr val="111111"/>
                </a:solidFill>
                <a:latin typeface="Work Sans"/>
                <a:ea typeface="Work Sans"/>
              </a:rPr>
              <a:t>The Speed Relationship:</a:t>
            </a:r>
            <a:r>
              <a:rPr b="0" lang="en-US" sz="930" spc="-1" strike="noStrike">
                <a:solidFill>
                  <a:srgbClr val="111111"/>
                </a:solidFill>
                <a:latin typeface="Work Sans"/>
                <a:ea typeface="Work Sans"/>
              </a:rPr>
              <a:t> The physical motor speed is directly related to the average duration of the applied power. A longer 'on' time results in higher average voltage and a faster spinning motor.</a:t>
            </a:r>
            <a:endParaRPr b="0" lang="en-US" sz="930" spc="-1" strike="noStrike">
              <a:solidFill>
                <a:srgbClr val="ffffff"/>
              </a:solidFill>
              <a:latin typeface="Arial"/>
            </a:endParaRPr>
          </a:p>
          <a:p>
            <a:pPr>
              <a:lnSpc>
                <a:spcPct val="100000"/>
              </a:lnSpc>
              <a:spcBef>
                <a:spcPts val="451"/>
              </a:spcBef>
              <a:spcAft>
                <a:spcPts val="751"/>
              </a:spcAft>
              <a:tabLst>
                <a:tab algn="l" pos="0"/>
              </a:tabLst>
            </a:pPr>
            <a:r>
              <a:rPr b="1" lang="en-US" sz="930" spc="-1" strike="noStrike">
                <a:solidFill>
                  <a:srgbClr val="111111"/>
                </a:solidFill>
                <a:latin typeface="Work Sans"/>
                <a:ea typeface="Work Sans"/>
              </a:rPr>
              <a:t>Core Signal Range:</a:t>
            </a:r>
            <a:r>
              <a:rPr b="0" lang="en-US" sz="930" spc="-1" strike="noStrike">
                <a:solidFill>
                  <a:srgbClr val="111111"/>
                </a:solidFill>
                <a:latin typeface="Work Sans"/>
                <a:ea typeface="Work Sans"/>
              </a:rPr>
              <a:t> On this hardware, </a:t>
            </a:r>
            <a:r>
              <a:rPr b="1" lang="en-US" sz="930" spc="-1" strike="noStrike">
                <a:solidFill>
                  <a:srgbClr val="1d3557"/>
                </a:solidFill>
                <a:latin typeface="Space Mono"/>
                <a:ea typeface="Space Mono"/>
              </a:rPr>
              <a:t>analogWrite</a:t>
            </a:r>
            <a:r>
              <a:rPr b="0" lang="en-US" sz="930" spc="-1" strike="noStrike">
                <a:solidFill>
                  <a:srgbClr val="111111"/>
                </a:solidFill>
                <a:latin typeface="Work Sans"/>
                <a:ea typeface="Work Sans"/>
              </a:rPr>
              <a:t> defaults to a 0–255 range. To achieve a 50% duty cycle (half speed), the programmed value becomes approximately 128.</a:t>
            </a:r>
            <a:endParaRPr b="0" lang="en-US" sz="930" spc="-1" strike="noStrike">
              <a:solidFill>
                <a:srgbClr val="ffffff"/>
              </a:solidFill>
              <a:latin typeface="Arial"/>
            </a:endParaRPr>
          </a:p>
          <a:p>
            <a:pPr>
              <a:lnSpc>
                <a:spcPct val="100000"/>
              </a:lnSpc>
              <a:spcBef>
                <a:spcPts val="451"/>
              </a:spcBef>
              <a:spcAft>
                <a:spcPts val="751"/>
              </a:spcAft>
              <a:tabLst>
                <a:tab algn="l" pos="0"/>
              </a:tabLst>
            </a:pPr>
            <a:r>
              <a:rPr b="1" lang="en-US" sz="930" spc="-1" strike="noStrike">
                <a:solidFill>
                  <a:srgbClr val="111111"/>
                </a:solidFill>
                <a:latin typeface="Work Sans"/>
                <a:ea typeface="Work Sans"/>
              </a:rPr>
              <a:t>Inverted Signal: </a:t>
            </a:r>
            <a:r>
              <a:rPr b="0" lang="en-US" sz="930" spc="-1" strike="noStrike">
                <a:solidFill>
                  <a:srgbClr val="111111"/>
                </a:solidFill>
                <a:latin typeface="Work Sans"/>
                <a:ea typeface="Work Sans"/>
              </a:rPr>
              <a:t>This robot runs the motor at full speed when the PWM signal is low (0%) and stopped when PWM signal is high (100% = 255). Variable speed is any value inbetween.</a:t>
            </a:r>
            <a:endParaRPr b="0" lang="en-US" sz="930" spc="-1" strike="noStrike">
              <a:solidFill>
                <a:srgbClr val="ffffff"/>
              </a:solidFill>
              <a:latin typeface="Arial"/>
            </a:endParaRPr>
          </a:p>
        </p:txBody>
      </p:sp>
      <p:grpSp>
        <p:nvGrpSpPr>
          <p:cNvPr id="63" name="Google Shape;165;p 2"/>
          <p:cNvGrpSpPr/>
          <p:nvPr/>
        </p:nvGrpSpPr>
        <p:grpSpPr>
          <a:xfrm>
            <a:off x="4762440" y="619200"/>
            <a:ext cx="4000320" cy="2714040"/>
            <a:chOff x="4762440" y="619200"/>
            <a:chExt cx="4000320" cy="2714040"/>
          </a:xfrm>
        </p:grpSpPr>
        <p:pic>
          <p:nvPicPr>
            <p:cNvPr id="64" name="Google Shape;166;p 2" descr=""/>
            <p:cNvPicPr/>
            <p:nvPr/>
          </p:nvPicPr>
          <p:blipFill>
            <a:blip r:embed="rId2"/>
            <a:srcRect l="0" t="8407" r="0" b="8415"/>
            <a:stretch/>
          </p:blipFill>
          <p:spPr>
            <a:xfrm>
              <a:off x="4762440" y="619200"/>
              <a:ext cx="4000320" cy="2495160"/>
            </a:xfrm>
            <a:prstGeom prst="rect">
              <a:avLst/>
            </a:prstGeom>
            <a:ln w="0">
              <a:noFill/>
            </a:ln>
          </p:spPr>
        </p:pic>
        <p:sp>
          <p:nvSpPr>
            <p:cNvPr id="65" name="Google Shape;167;p 2"/>
            <p:cNvSpPr/>
            <p:nvPr/>
          </p:nvSpPr>
          <p:spPr>
            <a:xfrm>
              <a:off x="4762440" y="3143160"/>
              <a:ext cx="4000320" cy="19008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900" spc="-1" strike="noStrike">
                  <a:solidFill>
                    <a:srgbClr val="1d3557"/>
                  </a:solidFill>
                  <a:latin typeface="Space Mono"/>
                  <a:ea typeface="Space Mono"/>
                </a:rPr>
                <a:t>FIG 1.0 // OSCILLOSCOPE TRACE OF 10% AND 90% DUTY CYCLES</a:t>
              </a:r>
              <a:endParaRPr b="0" lang="en-US" sz="900" spc="-1" strike="noStrike">
                <a:solidFill>
                  <a:srgbClr val="000000"/>
                </a:solidFill>
                <a:latin typeface="Arial"/>
              </a:endParaRPr>
            </a:p>
          </p:txBody>
        </p:sp>
      </p:grpSp>
      <p:grpSp>
        <p:nvGrpSpPr>
          <p:cNvPr id="66" name="Google Shape;168;p 2"/>
          <p:cNvGrpSpPr/>
          <p:nvPr/>
        </p:nvGrpSpPr>
        <p:grpSpPr>
          <a:xfrm>
            <a:off x="4762440" y="3333600"/>
            <a:ext cx="4000320" cy="1333800"/>
            <a:chOff x="4762440" y="3333600"/>
            <a:chExt cx="4000320" cy="1333800"/>
          </a:xfrm>
        </p:grpSpPr>
        <p:sp>
          <p:nvSpPr>
            <p:cNvPr id="67" name="Google Shape;169;p 2"/>
            <p:cNvSpPr/>
            <p:nvPr/>
          </p:nvSpPr>
          <p:spPr>
            <a:xfrm>
              <a:off x="4762440" y="3905280"/>
              <a:ext cx="4000320" cy="360"/>
            </a:xfrm>
            <a:prstGeom prst="straightConnector1">
              <a:avLst/>
            </a:prstGeom>
            <a:solidFill>
              <a:srgbClr val="ffffff"/>
            </a:solidFill>
            <a:ln w="14400">
              <a:solidFill>
                <a:srgbClr val="111111"/>
              </a:solidFill>
              <a:round/>
            </a:ln>
          </p:spPr>
          <p:style>
            <a:lnRef idx="0"/>
            <a:fillRef idx="0"/>
            <a:effectRef idx="0"/>
            <a:fontRef idx="minor"/>
          </p:style>
          <p:txBody>
            <a:bodyPr lIns="90000" rIns="90000" tIns="-44640" bIns="-44640" anchor="t">
              <a:noAutofit/>
            </a:bodyPr>
            <a:p>
              <a:endParaRPr b="0" lang="en-US" sz="1800" spc="-1" strike="noStrike">
                <a:solidFill>
                  <a:srgbClr val="000000"/>
                </a:solidFill>
                <a:latin typeface="Arial"/>
              </a:endParaRPr>
            </a:p>
          </p:txBody>
        </p:sp>
        <p:sp>
          <p:nvSpPr>
            <p:cNvPr id="68" name="Google Shape;170;p 2"/>
            <p:cNvSpPr/>
            <p:nvPr/>
          </p:nvSpPr>
          <p:spPr>
            <a:xfrm>
              <a:off x="4762440" y="3429000"/>
              <a:ext cx="360" cy="475920"/>
            </a:xfrm>
            <a:prstGeom prst="straightConnector1">
              <a:avLst/>
            </a:prstGeom>
            <a:solidFill>
              <a:srgbClr val="ffffff"/>
            </a:solidFill>
            <a:ln w="14400">
              <a:solidFill>
                <a:srgbClr val="11111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9" name="Google Shape;171;p 2"/>
            <p:cNvSpPr/>
            <p:nvPr/>
          </p:nvSpPr>
          <p:spPr>
            <a:xfrm>
              <a:off x="4762440" y="3524400"/>
              <a:ext cx="1714320" cy="380520"/>
            </a:xfrm>
            <a:custGeom>
              <a:avLst/>
              <a:gdLst>
                <a:gd name="textAreaLeft" fmla="*/ 0 w 1714320"/>
                <a:gd name="textAreaRight" fmla="*/ 1714680 w 1714320"/>
                <a:gd name="textAreaTop" fmla="*/ 0 h 380520"/>
                <a:gd name="textAreaBottom" fmla="*/ 380880 h 380520"/>
              </a:gdLst>
              <a:ahLst/>
              <a:rect l="textAreaLeft" t="textAreaTop" r="textAreaRight" b="textAreaBottom"/>
              <a:pathLst>
                <a:path w="120000" h="120000">
                  <a:moveTo>
                    <a:pt x="0" y="120000"/>
                  </a:moveTo>
                  <a:lnTo>
                    <a:pt x="0" y="0"/>
                  </a:lnTo>
                  <a:lnTo>
                    <a:pt x="13333" y="0"/>
                  </a:lnTo>
                  <a:lnTo>
                    <a:pt x="13333" y="120000"/>
                  </a:lnTo>
                  <a:lnTo>
                    <a:pt x="120000" y="120000"/>
                  </a:lnTo>
                </a:path>
              </a:pathLst>
            </a:custGeom>
            <a:noFill/>
            <a:ln w="23760">
              <a:solidFill>
                <a:srgbClr val="e63946"/>
              </a:solidFill>
              <a:round/>
            </a:ln>
          </p:spPr>
          <p:style>
            <a:lnRef idx="0"/>
            <a:fillRef idx="0"/>
            <a:effectRef idx="0"/>
            <a:fontRef idx="minor"/>
          </p:style>
          <p:txBody>
            <a:bodyPr lIns="0" rIns="0" tIns="0" bIns="0" anchor="ctr">
              <a:noAutofit/>
            </a:bodyPr>
            <a:p>
              <a:endParaRPr b="0" lang="en-US" sz="1400" spc="-1" strike="noStrike">
                <a:solidFill>
                  <a:srgbClr val="ffffff"/>
                </a:solidFill>
                <a:latin typeface="Arial"/>
              </a:endParaRPr>
            </a:p>
          </p:txBody>
        </p:sp>
        <p:sp>
          <p:nvSpPr>
            <p:cNvPr id="70" name="Google Shape;172;p 2"/>
            <p:cNvSpPr/>
            <p:nvPr/>
          </p:nvSpPr>
          <p:spPr>
            <a:xfrm>
              <a:off x="6477120" y="3524400"/>
              <a:ext cx="2285640" cy="380520"/>
            </a:xfrm>
            <a:custGeom>
              <a:avLst/>
              <a:gdLst>
                <a:gd name="textAreaLeft" fmla="*/ 0 w 2285640"/>
                <a:gd name="textAreaRight" fmla="*/ 2286000 w 2285640"/>
                <a:gd name="textAreaTop" fmla="*/ 0 h 380520"/>
                <a:gd name="textAreaBottom" fmla="*/ 380880 h 380520"/>
              </a:gdLst>
              <a:ahLst/>
              <a:rect l="textAreaLeft" t="textAreaTop" r="textAreaRight" b="textAreaBottom"/>
              <a:pathLst>
                <a:path w="120000" h="120000">
                  <a:moveTo>
                    <a:pt x="0" y="120000"/>
                  </a:moveTo>
                  <a:lnTo>
                    <a:pt x="0" y="0"/>
                  </a:lnTo>
                  <a:lnTo>
                    <a:pt x="80000" y="0"/>
                  </a:lnTo>
                  <a:lnTo>
                    <a:pt x="80000" y="120000"/>
                  </a:lnTo>
                  <a:lnTo>
                    <a:pt x="120000" y="120000"/>
                  </a:lnTo>
                </a:path>
              </a:pathLst>
            </a:custGeom>
            <a:noFill/>
            <a:ln w="23760">
              <a:solidFill>
                <a:srgbClr val="e63946"/>
              </a:solidFill>
              <a:round/>
            </a:ln>
          </p:spPr>
          <p:style>
            <a:lnRef idx="0"/>
            <a:fillRef idx="0"/>
            <a:effectRef idx="0"/>
            <a:fontRef idx="minor"/>
          </p:style>
          <p:txBody>
            <a:bodyPr lIns="0" rIns="0" tIns="0" bIns="0" anchor="ctr">
              <a:noAutofit/>
            </a:bodyPr>
            <a:p>
              <a:endParaRPr b="0" lang="en-US" sz="1400" spc="-1" strike="noStrike">
                <a:solidFill>
                  <a:srgbClr val="ffffff"/>
                </a:solidFill>
                <a:latin typeface="Arial"/>
              </a:endParaRPr>
            </a:p>
          </p:txBody>
        </p:sp>
        <p:sp>
          <p:nvSpPr>
            <p:cNvPr id="71" name="Google Shape;173;p 2"/>
            <p:cNvSpPr/>
            <p:nvPr/>
          </p:nvSpPr>
          <p:spPr>
            <a:xfrm>
              <a:off x="4809960" y="3333600"/>
              <a:ext cx="952200" cy="17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800" spc="-1" strike="noStrike">
                  <a:solidFill>
                    <a:srgbClr val="e63946"/>
                  </a:solidFill>
                  <a:latin typeface="Space Mono"/>
                  <a:ea typeface="Space Mono"/>
                </a:rPr>
                <a:t>10% DUTY</a:t>
              </a:r>
              <a:endParaRPr b="0" lang="en-US" sz="800" spc="-1" strike="noStrike">
                <a:solidFill>
                  <a:srgbClr val="ffffff"/>
                </a:solidFill>
                <a:latin typeface="Arial"/>
              </a:endParaRPr>
            </a:p>
          </p:txBody>
        </p:sp>
        <p:sp>
          <p:nvSpPr>
            <p:cNvPr id="72" name="Google Shape;174;p 2"/>
            <p:cNvSpPr/>
            <p:nvPr/>
          </p:nvSpPr>
          <p:spPr>
            <a:xfrm>
              <a:off x="6524640" y="3333600"/>
              <a:ext cx="952200" cy="171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800" spc="-1" strike="noStrike">
                  <a:solidFill>
                    <a:srgbClr val="e63946"/>
                  </a:solidFill>
                  <a:latin typeface="Space Mono"/>
                  <a:ea typeface="Space Mono"/>
                </a:rPr>
                <a:t>90% DUTY</a:t>
              </a:r>
              <a:endParaRPr b="0" lang="en-US" sz="800" spc="-1" strike="noStrike">
                <a:solidFill>
                  <a:srgbClr val="ffffff"/>
                </a:solidFill>
                <a:latin typeface="Arial"/>
              </a:endParaRPr>
            </a:p>
          </p:txBody>
        </p:sp>
        <p:sp>
          <p:nvSpPr>
            <p:cNvPr id="73" name="Google Shape;175;p 2"/>
            <p:cNvSpPr/>
            <p:nvPr/>
          </p:nvSpPr>
          <p:spPr>
            <a:xfrm>
              <a:off x="4762440" y="4000680"/>
              <a:ext cx="4000320" cy="66672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770" spc="-1" strike="noStrike">
                  <a:solidFill>
                    <a:srgbClr val="111111"/>
                  </a:solidFill>
                  <a:latin typeface="Space Mono"/>
                  <a:ea typeface="Space Mono"/>
                </a:rPr>
                <a:t>PULSED VOLTAGE APPLICATION</a:t>
              </a:r>
              <a:endParaRPr b="0" lang="en-US" sz="770" spc="-1" strike="noStrike">
                <a:solidFill>
                  <a:srgbClr val="ffffff"/>
                </a:solidFill>
                <a:latin typeface="Arial"/>
              </a:endParaRPr>
            </a:p>
            <a:p>
              <a:pPr>
                <a:lnSpc>
                  <a:spcPct val="100000"/>
                </a:lnSpc>
                <a:spcBef>
                  <a:spcPts val="300"/>
                </a:spcBef>
                <a:spcAft>
                  <a:spcPts val="300"/>
                </a:spcAft>
                <a:tabLst>
                  <a:tab algn="l" pos="0"/>
                </a:tabLst>
              </a:pPr>
              <a:r>
                <a:rPr b="0" lang="en-US" sz="810" spc="-1" strike="noStrike">
                  <a:solidFill>
                    <a:srgbClr val="111111"/>
                  </a:solidFill>
                  <a:latin typeface="Work Sans"/>
                  <a:ea typeface="Work Sans"/>
                </a:rPr>
                <a:t>PWM works by rapidly switching the output voltage on and off. The diagram above illustrates pulsed voltage applied to the motor, contrasting a low 10% PWM pulse (mostly on / high speed) with a high 90% PWM pulse (mostly off / low speed).</a:t>
              </a:r>
              <a:endParaRPr b="0" lang="en-US" sz="810" spc="-1" strike="noStrike">
                <a:solidFill>
                  <a:srgbClr val="ffffff"/>
                </a:solidFill>
                <a:latin typeface="Aria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How to use AI (demo)</a:t>
            </a:r>
            <a:endParaRPr b="0" lang="en-US" sz="3000" spc="-1" strike="noStrike">
              <a:solidFill>
                <a:srgbClr val="000000"/>
              </a:solidFill>
              <a:latin typeface="Arial"/>
            </a:endParaRPr>
          </a:p>
        </p:txBody>
      </p:sp>
      <p:sp>
        <p:nvSpPr>
          <p:cNvPr id="75"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76" name=""/>
          <p:cNvSpPr txBox="1"/>
          <p:nvPr/>
        </p:nvSpPr>
        <p:spPr>
          <a:xfrm>
            <a:off x="360000" y="1116000"/>
            <a:ext cx="4104000" cy="1440000"/>
          </a:xfrm>
          <a:prstGeom prst="rect">
            <a:avLst/>
          </a:prstGeom>
          <a:noFill/>
          <a:ln w="0">
            <a:noFill/>
          </a:ln>
        </p:spPr>
        <p:txBody>
          <a:bodyPr lIns="36000" rIns="36000" tIns="36000" bIns="36000" anchor="t">
            <a:noAutofit/>
          </a:bodyPr>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Launch Google in </a:t>
            </a:r>
            <a:r>
              <a:rPr b="1" lang="en-US" sz="1800" spc="-1" strike="noStrike">
                <a:solidFill>
                  <a:srgbClr val="000000"/>
                </a:solidFill>
                <a:latin typeface="Open Sans"/>
              </a:rPr>
              <a:t>AI mode</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Give it a detailed instruction, with context. Example:</a:t>
            </a:r>
            <a:endParaRPr b="0" lang="en-US" sz="1800" spc="-1" strike="noStrike">
              <a:solidFill>
                <a:srgbClr val="000000"/>
              </a:solidFill>
              <a:latin typeface="Arial"/>
            </a:endParaRPr>
          </a:p>
        </p:txBody>
      </p:sp>
      <p:pic>
        <p:nvPicPr>
          <p:cNvPr id="77" name="" descr=""/>
          <p:cNvPicPr/>
          <p:nvPr/>
        </p:nvPicPr>
        <p:blipFill>
          <a:blip r:embed="rId1"/>
          <a:stretch/>
        </p:blipFill>
        <p:spPr>
          <a:xfrm>
            <a:off x="4608000" y="1126800"/>
            <a:ext cx="4212000" cy="1382040"/>
          </a:xfrm>
          <a:prstGeom prst="rect">
            <a:avLst/>
          </a:prstGeom>
          <a:ln w="0">
            <a:noFill/>
          </a:ln>
        </p:spPr>
      </p:pic>
      <p:sp>
        <p:nvSpPr>
          <p:cNvPr id="78" name=""/>
          <p:cNvSpPr txBox="1"/>
          <p:nvPr/>
        </p:nvSpPr>
        <p:spPr>
          <a:xfrm>
            <a:off x="360000" y="2628000"/>
            <a:ext cx="8424000" cy="900000"/>
          </a:xfrm>
          <a:prstGeom prst="rect">
            <a:avLst/>
          </a:prstGeom>
          <a:solidFill>
            <a:srgbClr val="fff6cc"/>
          </a:solidFill>
          <a:ln w="18000">
            <a:solidFill>
              <a:srgbClr val="c99c00"/>
            </a:solidFill>
            <a:round/>
          </a:ln>
        </p:spPr>
        <p:txBody>
          <a:bodyPr lIns="144000" rIns="144000" tIns="108000" bIns="108000" anchor="ctr">
            <a:noAutofit/>
          </a:bodyPr>
          <a:p>
            <a:pPr>
              <a:lnSpc>
                <a:spcPct val="110000"/>
              </a:lnSpc>
              <a:spcAft>
                <a:spcPts val="709"/>
              </a:spcAft>
            </a:pPr>
            <a:r>
              <a:rPr b="0" i="1" lang="en-US" sz="1400" spc="-1" strike="noStrike">
                <a:solidFill>
                  <a:srgbClr val="000000"/>
                </a:solidFill>
                <a:latin typeface="Open Sans"/>
              </a:rPr>
              <a:t>I have an LED controlled by PWM on GP0 on a Raspberry Pi Pico. I am using the Arduino IDE with the earlephilhower arduino-pico core. Give me an arduino sketch to ramp it up to full brightness then back down to off every 5 seconds</a:t>
            </a:r>
            <a:endParaRPr b="0" lang="en-US" sz="1400" spc="-1" strike="noStrike">
              <a:solidFill>
                <a:srgbClr val="000000"/>
              </a:solidFill>
              <a:latin typeface="Arial"/>
            </a:endParaRPr>
          </a:p>
        </p:txBody>
      </p:sp>
      <p:sp>
        <p:nvSpPr>
          <p:cNvPr id="79" name=""/>
          <p:cNvSpPr txBox="1"/>
          <p:nvPr/>
        </p:nvSpPr>
        <p:spPr>
          <a:xfrm>
            <a:off x="360000" y="3672000"/>
            <a:ext cx="8424000" cy="1296000"/>
          </a:xfrm>
          <a:prstGeom prst="rect">
            <a:avLst/>
          </a:prstGeom>
          <a:noFill/>
          <a:ln w="0">
            <a:noFill/>
          </a:ln>
        </p:spPr>
        <p:txBody>
          <a:bodyPr lIns="36000" rIns="36000" tIns="36000" bIns="36000" anchor="t">
            <a:noAutofit/>
          </a:bodyPr>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Copy the resulting sketch into the Arduino IDE. Download &amp; show.</a:t>
            </a:r>
            <a:endParaRPr b="0" lang="en-US" sz="1600" spc="-1" strike="noStrike">
              <a:solidFill>
                <a:srgbClr val="000000"/>
              </a:solidFill>
              <a:latin typeface="Arial"/>
            </a:endParaRPr>
          </a:p>
          <a:p>
            <a:pPr marL="252000" indent="-252000">
              <a:lnSpc>
                <a:spcPct val="110000"/>
              </a:lnSpc>
              <a:spcAft>
                <a:spcPts val="709"/>
              </a:spcAft>
              <a:buClr>
                <a:srgbClr val="0369a3"/>
              </a:buClr>
              <a:buSzPct val="70000"/>
              <a:buFont typeface="Wingdings" charset="2"/>
              <a:buChar char=""/>
            </a:pPr>
            <a:r>
              <a:rPr b="0" lang="en-US" sz="1600" spc="-1" strike="noStrike">
                <a:solidFill>
                  <a:srgbClr val="000000"/>
                </a:solidFill>
                <a:latin typeface="Open Sans"/>
              </a:rPr>
              <a:t>This is not a great instruction: does the </a:t>
            </a:r>
            <a:r>
              <a:rPr b="1" lang="en-US" sz="1600" spc="-1" strike="noStrike">
                <a:solidFill>
                  <a:srgbClr val="000000"/>
                </a:solidFill>
                <a:latin typeface="Open Sans"/>
              </a:rPr>
              <a:t>ramp</a:t>
            </a:r>
            <a:r>
              <a:rPr b="0" lang="en-US" sz="1600" spc="-1" strike="noStrike">
                <a:solidFill>
                  <a:srgbClr val="000000"/>
                </a:solidFill>
                <a:latin typeface="Open Sans"/>
              </a:rPr>
              <a:t> take 5 seconds, or the whole </a:t>
            </a:r>
            <a:r>
              <a:rPr b="1" lang="en-US" sz="1600" spc="-1" strike="noStrike">
                <a:solidFill>
                  <a:srgbClr val="000000"/>
                </a:solidFill>
                <a:latin typeface="Open Sans"/>
              </a:rPr>
              <a:t>loop</a:t>
            </a:r>
            <a:r>
              <a:rPr b="0" lang="en-US" sz="1600" spc="-1" strike="noStrike">
                <a:solidFill>
                  <a:srgbClr val="000000"/>
                </a:solidFill>
                <a:latin typeface="Open Sans"/>
              </a:rPr>
              <a:t>? The AI will take a guess.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Next level (not this workshop)</a:t>
            </a:r>
            <a:endParaRPr b="0" lang="en-US" sz="3000" spc="-1" strike="noStrike">
              <a:solidFill>
                <a:srgbClr val="000000"/>
              </a:solidFill>
              <a:latin typeface="Arial"/>
            </a:endParaRPr>
          </a:p>
        </p:txBody>
      </p:sp>
      <p:sp>
        <p:nvSpPr>
          <p:cNvPr id="81"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82" name=""/>
          <p:cNvSpPr txBox="1"/>
          <p:nvPr/>
        </p:nvSpPr>
        <p:spPr>
          <a:xfrm>
            <a:off x="360000" y="1116000"/>
            <a:ext cx="8424000" cy="1080000"/>
          </a:xfrm>
          <a:prstGeom prst="rect">
            <a:avLst/>
          </a:prstGeom>
          <a:noFill/>
          <a:ln w="0">
            <a:noFill/>
          </a:ln>
        </p:spPr>
        <p:txBody>
          <a:bodyPr lIns="36000" rIns="36000" tIns="36000" bIns="36000" anchor="t">
            <a:noAutofit/>
          </a:bodyPr>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Run AI on your machine to edit files directly:</a:t>
            </a:r>
            <a:endParaRPr b="0" lang="en-US" sz="1800" spc="-1" strike="noStrike">
              <a:solidFill>
                <a:srgbClr val="000000"/>
              </a:solidFill>
              <a:latin typeface="Arial"/>
            </a:endParaRPr>
          </a:p>
          <a:p>
            <a:pPr lvl="1" marL="504000" indent="-216000">
              <a:lnSpc>
                <a:spcPct val="110000"/>
              </a:lnSpc>
              <a:spcAft>
                <a:spcPts val="850"/>
              </a:spcAft>
              <a:buClr>
                <a:srgbClr val="0369a3"/>
              </a:buClr>
              <a:buFont typeface="Symbol" charset="2"/>
              <a:buChar char=""/>
            </a:pPr>
            <a:r>
              <a:rPr b="0" lang="en-US" sz="1800" spc="-1" strike="noStrike">
                <a:solidFill>
                  <a:srgbClr val="000000"/>
                </a:solidFill>
                <a:latin typeface="Open Sans"/>
              </a:rPr>
              <a:t>Google Antigravity, Claude Code, OpenAI Codex, VS-code Copilot, Cursor</a:t>
            </a:r>
            <a:endParaRPr b="0" lang="en-US" sz="1800" spc="-1" strike="noStrike">
              <a:solidFill>
                <a:srgbClr val="000000"/>
              </a:solidFill>
              <a:latin typeface="Arial"/>
            </a:endParaRPr>
          </a:p>
        </p:txBody>
      </p:sp>
      <p:sp>
        <p:nvSpPr>
          <p:cNvPr id="83" name=""/>
          <p:cNvSpPr txBox="1"/>
          <p:nvPr/>
        </p:nvSpPr>
        <p:spPr>
          <a:xfrm>
            <a:off x="360000" y="2304000"/>
            <a:ext cx="8424000" cy="828000"/>
          </a:xfrm>
          <a:prstGeom prst="rect">
            <a:avLst/>
          </a:prstGeom>
          <a:solidFill>
            <a:srgbClr val="fff6cc"/>
          </a:solidFill>
          <a:ln w="18000">
            <a:solidFill>
              <a:srgbClr val="c99c00"/>
            </a:solidFill>
            <a:round/>
          </a:ln>
        </p:spPr>
        <p:txBody>
          <a:bodyPr lIns="144000" rIns="144000" tIns="108000" bIns="108000" anchor="ctr">
            <a:noAutofit/>
          </a:bodyPr>
          <a:p>
            <a:pPr>
              <a:lnSpc>
                <a:spcPct val="110000"/>
              </a:lnSpc>
              <a:spcAft>
                <a:spcPts val="709"/>
              </a:spcAft>
            </a:pPr>
            <a:r>
              <a:rPr b="0" i="1" lang="en-US" sz="1400" spc="-1" strike="noStrike">
                <a:solidFill>
                  <a:srgbClr val="000000"/>
                </a:solidFill>
                <a:latin typeface="Open Sans"/>
              </a:rPr>
              <a:t>I have an LED controlled by PWM on GP0. Write a file called led_ramp.ino in the current directory which is an arduino-Pico sketch to ramp it up to full brightness then back down to off every 5 seconds</a:t>
            </a:r>
            <a:endParaRPr b="0" lang="en-US" sz="1400" spc="-1" strike="noStrike">
              <a:solidFill>
                <a:srgbClr val="000000"/>
              </a:solidFill>
              <a:latin typeface="Arial"/>
            </a:endParaRPr>
          </a:p>
        </p:txBody>
      </p:sp>
      <p:sp>
        <p:nvSpPr>
          <p:cNvPr id="84" name=""/>
          <p:cNvSpPr txBox="1"/>
          <p:nvPr/>
        </p:nvSpPr>
        <p:spPr>
          <a:xfrm>
            <a:off x="360000" y="3312000"/>
            <a:ext cx="8424000" cy="1584000"/>
          </a:xfrm>
          <a:prstGeom prst="rect">
            <a:avLst/>
          </a:prstGeom>
          <a:noFill/>
          <a:ln w="0">
            <a:noFill/>
          </a:ln>
        </p:spPr>
        <p:txBody>
          <a:bodyPr lIns="36000" rIns="36000" tIns="36000" bIns="36000" anchor="t">
            <a:noAutofit/>
          </a:bodyPr>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Demo: </a:t>
            </a:r>
            <a:r>
              <a:rPr b="1" lang="en-US" sz="1800" spc="-1" strike="noStrike">
                <a:solidFill>
                  <a:srgbClr val="000000"/>
                </a:solidFill>
                <a:latin typeface="Open Sans"/>
              </a:rPr>
              <a:t>agy</a:t>
            </a:r>
            <a:r>
              <a:rPr b="0" lang="en-US" sz="1800" spc="-1" strike="noStrike">
                <a:solidFill>
                  <a:srgbClr val="000000"/>
                </a:solidFill>
                <a:latin typeface="Open Sans"/>
              </a:rPr>
              <a:t> (Google Antigravity)</a:t>
            </a:r>
            <a:endParaRPr b="0" lang="en-US" sz="1800" spc="-1" strike="noStrike">
              <a:solidFill>
                <a:srgbClr val="000000"/>
              </a:solidFill>
              <a:latin typeface="Arial"/>
            </a:endParaRPr>
          </a:p>
          <a:p>
            <a:pPr marL="252000" indent="-252000">
              <a:lnSpc>
                <a:spcPct val="110000"/>
              </a:lnSpc>
              <a:spcAft>
                <a:spcPts val="850"/>
              </a:spcAft>
              <a:buClr>
                <a:srgbClr val="0369a3"/>
              </a:buClr>
              <a:buSzPct val="70000"/>
              <a:buFont typeface="Wingdings" charset="2"/>
              <a:buChar char=""/>
            </a:pPr>
            <a:r>
              <a:rPr b="0" lang="en-US" sz="1800" spc="-1" strike="noStrike">
                <a:solidFill>
                  <a:srgbClr val="000000"/>
                </a:solidFill>
                <a:latin typeface="Open Sans"/>
              </a:rPr>
              <a:t>If you have VS Code with Copilot, Claude, or any other AI, you are welcome to use it for The Challenge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Ask AI to write a sketch</a:t>
            </a:r>
            <a:endParaRPr b="0" lang="en-US" sz="3000" spc="-1" strike="noStrike">
              <a:solidFill>
                <a:srgbClr val="000000"/>
              </a:solidFill>
              <a:latin typeface="Arial"/>
            </a:endParaRPr>
          </a:p>
        </p:txBody>
      </p:sp>
      <p:sp>
        <p:nvSpPr>
          <p:cNvPr id="86"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87" name=""/>
          <p:cNvSpPr txBox="1"/>
          <p:nvPr/>
        </p:nvSpPr>
        <p:spPr>
          <a:xfrm>
            <a:off x="360000" y="1116000"/>
            <a:ext cx="8424000" cy="432000"/>
          </a:xfrm>
          <a:prstGeom prst="rect">
            <a:avLst/>
          </a:prstGeom>
          <a:noFill/>
          <a:ln w="0">
            <a:noFill/>
          </a:ln>
        </p:spPr>
        <p:txBody>
          <a:bodyPr lIns="36000" rIns="36000" tIns="36000" bIns="36000" anchor="t">
            <a:noAutofit/>
          </a:bodyPr>
          <a:p>
            <a:pPr>
              <a:lnSpc>
                <a:spcPct val="110000"/>
              </a:lnSpc>
              <a:spcAft>
                <a:spcPts val="850"/>
              </a:spcAft>
            </a:pPr>
            <a:r>
              <a:rPr b="0" lang="en-US" sz="1800" spc="-1" strike="noStrike">
                <a:solidFill>
                  <a:srgbClr val="000000"/>
                </a:solidFill>
                <a:latin typeface="Open Sans"/>
              </a:rPr>
              <a:t>Open Google in AI mode. Give it this instruction:</a:t>
            </a:r>
            <a:endParaRPr b="0" lang="en-US" sz="1800" spc="-1" strike="noStrike">
              <a:solidFill>
                <a:srgbClr val="000000"/>
              </a:solidFill>
              <a:latin typeface="Arial"/>
            </a:endParaRPr>
          </a:p>
        </p:txBody>
      </p:sp>
      <p:sp>
        <p:nvSpPr>
          <p:cNvPr id="88" name=""/>
          <p:cNvSpPr txBox="1"/>
          <p:nvPr/>
        </p:nvSpPr>
        <p:spPr>
          <a:xfrm>
            <a:off x="360000" y="1620000"/>
            <a:ext cx="8424000" cy="3312000"/>
          </a:xfrm>
          <a:prstGeom prst="rect">
            <a:avLst/>
          </a:prstGeom>
          <a:solidFill>
            <a:srgbClr val="fff6cc"/>
          </a:solidFill>
          <a:ln w="18000">
            <a:solidFill>
              <a:srgbClr val="c99c00"/>
            </a:solidFill>
            <a:round/>
          </a:ln>
        </p:spPr>
        <p:txBody>
          <a:bodyPr lIns="144000" rIns="144000" tIns="108000" bIns="108000" anchor="ctr">
            <a:noAutofit/>
          </a:bodyPr>
          <a:p>
            <a:pPr>
              <a:lnSpc>
                <a:spcPct val="110000"/>
              </a:lnSpc>
              <a:spcAft>
                <a:spcPts val="709"/>
              </a:spcAft>
            </a:pPr>
            <a:r>
              <a:rPr b="0" i="1" lang="en-US" sz="1400" spc="-1" strike="noStrike">
                <a:solidFill>
                  <a:srgbClr val="000000"/>
                </a:solidFill>
                <a:latin typeface="Open Sans"/>
              </a:rPr>
              <a:t>I have a differential drive robot with two motors controlled by PWM. The PWM signal is produced by a Raspberry Pi Pico. I am using the Arduino IDE with the earlephilhower arduino-pico core. The left motor is driven by GP1. The right motor is driven by GP0. The GPIO pins drive a PNP transistor that enables the motors. When the output is low (PWM = 0%) the motors run at full speed. When the output is high (PWM = 100%) the motors are stopped.</a:t>
            </a:r>
            <a:endParaRPr b="0" lang="en-US" sz="1400" spc="-1" strike="noStrike">
              <a:solidFill>
                <a:srgbClr val="000000"/>
              </a:solidFill>
              <a:latin typeface="Arial"/>
            </a:endParaRPr>
          </a:p>
          <a:p>
            <a:pPr>
              <a:lnSpc>
                <a:spcPct val="110000"/>
              </a:lnSpc>
              <a:spcAft>
                <a:spcPts val="709"/>
              </a:spcAft>
            </a:pPr>
            <a:r>
              <a:rPr b="0" i="1" lang="en-US" sz="1400" spc="-1" strike="noStrike">
                <a:solidFill>
                  <a:srgbClr val="000000"/>
                </a:solidFill>
                <a:latin typeface="Open Sans"/>
              </a:rPr>
              <a:t>Give me an arduino sketch to control the motors as follows. The motors should be stopped for 5 seconds at startup. Then the left motor should ramp to full speed in 1 second then ramp down to stopped in 1 second. Then the right motor should ramp to full speed in 2 seconds, run at full speed for 1 second, then ramp down to stopped in 1 second. Then the sequence should repeat twice after which the motors should stay stopped.</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Ask AI to write a sketch: build, test, run</a:t>
            </a:r>
            <a:endParaRPr b="0" lang="en-US" sz="3000" spc="-1" strike="noStrike">
              <a:solidFill>
                <a:srgbClr val="000000"/>
              </a:solidFill>
              <a:latin typeface="Arial"/>
            </a:endParaRPr>
          </a:p>
        </p:txBody>
      </p:sp>
      <p:sp>
        <p:nvSpPr>
          <p:cNvPr id="90"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91" name=""/>
          <p:cNvSpPr txBox="1"/>
          <p:nvPr/>
        </p:nvSpPr>
        <p:spPr>
          <a:xfrm>
            <a:off x="360000" y="1116000"/>
            <a:ext cx="8424000" cy="3888000"/>
          </a:xfrm>
          <a:prstGeom prst="rect">
            <a:avLst/>
          </a:prstGeom>
          <a:noFill/>
          <a:ln w="0">
            <a:noFill/>
          </a:ln>
        </p:spPr>
        <p:txBody>
          <a:bodyPr lIns="36000" rIns="36000" tIns="36000" bIns="36000" anchor="t">
            <a:noAutofit/>
          </a:bodyPr>
          <a:p>
            <a:pPr marL="252000" indent="-252000">
              <a:lnSpc>
                <a:spcPct val="110000"/>
              </a:lnSpc>
              <a:spcAft>
                <a:spcPts val="567"/>
              </a:spcAft>
              <a:buClr>
                <a:srgbClr val="0369a3"/>
              </a:buClr>
              <a:buSzPct val="70000"/>
              <a:buFont typeface="Wingdings" charset="2"/>
              <a:buChar char=""/>
            </a:pPr>
            <a:r>
              <a:rPr b="1" lang="en-US" sz="1500" spc="-1" strike="noStrike">
                <a:solidFill>
                  <a:srgbClr val="000000"/>
                </a:solidFill>
                <a:latin typeface="Open Sans"/>
              </a:rPr>
              <a:t>Build</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Copy the code into the Arduino IDE</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Set the board type to Raspberry Pi Pico, then build and load the sketch</a:t>
            </a:r>
            <a:endParaRPr b="0" lang="en-US" sz="1500" spc="-1" strike="noStrike">
              <a:solidFill>
                <a:srgbClr val="000000"/>
              </a:solidFill>
              <a:latin typeface="Arial"/>
            </a:endParaRPr>
          </a:p>
          <a:p>
            <a:pPr marL="252000" indent="-252000">
              <a:lnSpc>
                <a:spcPct val="110000"/>
              </a:lnSpc>
              <a:spcAft>
                <a:spcPts val="567"/>
              </a:spcAft>
              <a:buClr>
                <a:srgbClr val="0369a3"/>
              </a:buClr>
              <a:buSzPct val="70000"/>
              <a:buFont typeface="Wingdings" charset="2"/>
              <a:buChar char=""/>
            </a:pPr>
            <a:r>
              <a:rPr b="1" lang="en-US" sz="1500" spc="-1" strike="noStrike">
                <a:solidFill>
                  <a:srgbClr val="000000"/>
                </a:solidFill>
                <a:latin typeface="Open Sans"/>
              </a:rPr>
              <a:t>Test with the LEDs</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Check the light pattern is as specified</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Not as expected? Ask AI to add debug print statements, then watch them in the Arduino Serial Monitor</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Look at the code. Ask AI how the code works</a:t>
            </a:r>
            <a:endParaRPr b="0" lang="en-US" sz="1500" spc="-1" strike="noStrike">
              <a:solidFill>
                <a:srgbClr val="000000"/>
              </a:solidFill>
              <a:latin typeface="Arial"/>
            </a:endParaRPr>
          </a:p>
          <a:p>
            <a:pPr marL="252000" indent="-252000">
              <a:lnSpc>
                <a:spcPct val="110000"/>
              </a:lnSpc>
              <a:spcAft>
                <a:spcPts val="567"/>
              </a:spcAft>
              <a:buClr>
                <a:srgbClr val="0369a3"/>
              </a:buClr>
              <a:buSzPct val="70000"/>
              <a:buFont typeface="Wingdings" charset="2"/>
              <a:buChar char=""/>
            </a:pPr>
            <a:r>
              <a:rPr b="1" lang="en-US" sz="1500" spc="-1" strike="noStrike">
                <a:solidFill>
                  <a:srgbClr val="000000"/>
                </a:solidFill>
                <a:latin typeface="Open Sans"/>
              </a:rPr>
              <a:t>Run on the robot</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Put your Interposer on a robot. Wheels off the ground: check they move as expected</a:t>
            </a:r>
            <a:endParaRPr b="0" lang="en-US" sz="1500" spc="-1" strike="noStrike">
              <a:solidFill>
                <a:srgbClr val="000000"/>
              </a:solidFill>
              <a:latin typeface="Arial"/>
            </a:endParaRPr>
          </a:p>
          <a:p>
            <a:pPr lvl="1" marL="504000" indent="-216000">
              <a:lnSpc>
                <a:spcPct val="110000"/>
              </a:lnSpc>
              <a:spcAft>
                <a:spcPts val="567"/>
              </a:spcAft>
              <a:buClr>
                <a:srgbClr val="0369a3"/>
              </a:buClr>
              <a:buFont typeface="Symbol" charset="2"/>
              <a:buChar char=""/>
            </a:pPr>
            <a:r>
              <a:rPr b="0" lang="en-US" sz="1500" spc="-1" strike="noStrike">
                <a:solidFill>
                  <a:srgbClr val="000000"/>
                </a:solidFill>
                <a:latin typeface="Open Sans"/>
              </a:rPr>
              <a:t>Robot on the table: check it spins one way, then the other</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Hands-on: The Challenge</a:t>
            </a:r>
            <a:endParaRPr b="0" lang="en-US" sz="3000" spc="-1" strike="noStrike">
              <a:solidFill>
                <a:srgbClr val="000000"/>
              </a:solidFill>
              <a:latin typeface="Arial"/>
            </a:endParaRPr>
          </a:p>
        </p:txBody>
      </p:sp>
      <p:sp>
        <p:nvSpPr>
          <p:cNvPr id="93"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94" name=""/>
          <p:cNvSpPr txBox="1"/>
          <p:nvPr/>
        </p:nvSpPr>
        <p:spPr>
          <a:xfrm>
            <a:off x="360000" y="1116000"/>
            <a:ext cx="4104000" cy="2844000"/>
          </a:xfrm>
          <a:prstGeom prst="rect">
            <a:avLst/>
          </a:prstGeom>
          <a:solidFill>
            <a:srgbClr val="e3f3fc"/>
          </a:solidFill>
          <a:ln w="21600">
            <a:solidFill>
              <a:srgbClr val="0369a3"/>
            </a:solidFill>
            <a:round/>
          </a:ln>
        </p:spPr>
        <p:txBody>
          <a:bodyPr lIns="180000" rIns="180000" tIns="144000" bIns="144000" anchor="t">
            <a:noAutofit/>
          </a:bodyPr>
          <a:p>
            <a:pPr>
              <a:lnSpc>
                <a:spcPct val="110000"/>
              </a:lnSpc>
              <a:spcAft>
                <a:spcPts val="850"/>
              </a:spcAft>
            </a:pPr>
            <a:r>
              <a:rPr b="1" lang="en-US" sz="2000" spc="-1" strike="noStrike">
                <a:solidFill>
                  <a:srgbClr val="0369a3"/>
                </a:solidFill>
                <a:latin typeface="Open Sans"/>
              </a:rPr>
              <a:t>Robot Motion</a:t>
            </a:r>
            <a:endParaRPr b="0" lang="en-US" sz="2000" spc="-1" strike="noStrike">
              <a:solidFill>
                <a:srgbClr val="000000"/>
              </a:solidFill>
              <a:latin typeface="Arial"/>
            </a:endParaRPr>
          </a:p>
          <a:p>
            <a:pPr>
              <a:lnSpc>
                <a:spcPct val="110000"/>
              </a:lnSpc>
              <a:spcAft>
                <a:spcPts val="709"/>
              </a:spcAft>
            </a:pPr>
            <a:r>
              <a:rPr b="0" lang="en-US" sz="1600" spc="-1" strike="noStrike">
                <a:solidFill>
                  <a:srgbClr val="000000"/>
                </a:solidFill>
                <a:latin typeface="Open Sans"/>
              </a:rPr>
              <a:t>Make a robot do the best break-dancing moves. Get AI to write code that makes the robot move in fun and interesting ways. Spins and herky-jerky are good. It should begin its moves at power-on, and stop when it's finished.</a:t>
            </a:r>
            <a:endParaRPr b="0" lang="en-US" sz="1600" spc="-1" strike="noStrike">
              <a:solidFill>
                <a:srgbClr val="000000"/>
              </a:solidFill>
              <a:latin typeface="Arial"/>
            </a:endParaRPr>
          </a:p>
        </p:txBody>
      </p:sp>
      <p:sp>
        <p:nvSpPr>
          <p:cNvPr id="95" name=""/>
          <p:cNvSpPr txBox="1"/>
          <p:nvPr/>
        </p:nvSpPr>
        <p:spPr>
          <a:xfrm>
            <a:off x="360000" y="4140000"/>
            <a:ext cx="5583600" cy="576000"/>
          </a:xfrm>
          <a:prstGeom prst="rect">
            <a:avLst/>
          </a:prstGeom>
          <a:noFill/>
          <a:ln w="0">
            <a:noFill/>
          </a:ln>
        </p:spPr>
        <p:txBody>
          <a:bodyPr lIns="36000" rIns="36000" tIns="36000" bIns="36000" anchor="t">
            <a:noAutofit/>
          </a:bodyPr>
          <a:p>
            <a:pPr algn="ctr">
              <a:lnSpc>
                <a:spcPct val="110000"/>
              </a:lnSpc>
              <a:spcAft>
                <a:spcPts val="567"/>
              </a:spcAft>
            </a:pPr>
            <a:r>
              <a:rPr b="1" lang="en-US" sz="1800" spc="-1" strike="noStrike">
                <a:solidFill>
                  <a:srgbClr val="c9211e"/>
                </a:solidFill>
                <a:latin typeface="Open Sans"/>
              </a:rPr>
              <a:t>Prez Mark will judge the best performance. </a:t>
            </a:r>
            <a:endParaRPr b="0" lang="en-US" sz="1800" spc="-1" strike="noStrike">
              <a:solidFill>
                <a:srgbClr val="000000"/>
              </a:solidFill>
              <a:latin typeface="Arial"/>
            </a:endParaRPr>
          </a:p>
          <a:p>
            <a:pPr algn="ctr">
              <a:lnSpc>
                <a:spcPct val="110000"/>
              </a:lnSpc>
              <a:spcAft>
                <a:spcPts val="567"/>
              </a:spcAft>
            </a:pPr>
            <a:r>
              <a:rPr b="1" lang="en-US" sz="1800" spc="-1" strike="noStrike">
                <a:solidFill>
                  <a:srgbClr val="c9211e"/>
                </a:solidFill>
                <a:latin typeface="Open Sans"/>
              </a:rPr>
              <a:t>There is no prize - maybe a certificate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How-To</a:t>
            </a:r>
            <a:endParaRPr b="0" lang="en-US" sz="3000" spc="-1" strike="noStrike">
              <a:solidFill>
                <a:srgbClr val="000000"/>
              </a:solidFill>
              <a:latin typeface="Arial"/>
            </a:endParaRPr>
          </a:p>
        </p:txBody>
      </p:sp>
      <p:sp>
        <p:nvSpPr>
          <p:cNvPr id="97"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98" name=""/>
          <p:cNvSpPr txBox="1"/>
          <p:nvPr/>
        </p:nvSpPr>
        <p:spPr>
          <a:xfrm>
            <a:off x="360000" y="1296000"/>
            <a:ext cx="8424000" cy="1440000"/>
          </a:xfrm>
          <a:prstGeom prst="rect">
            <a:avLst/>
          </a:prstGeom>
          <a:noFill/>
          <a:ln w="0">
            <a:noFill/>
          </a:ln>
        </p:spPr>
        <p:txBody>
          <a:bodyPr lIns="36000" rIns="36000" tIns="36000" bIns="36000" anchor="t">
            <a:noAutofit/>
          </a:bodyPr>
          <a:p>
            <a:pPr marL="252000" indent="-252000">
              <a:lnSpc>
                <a:spcPct val="110000"/>
              </a:lnSpc>
              <a:spcAft>
                <a:spcPts val="992"/>
              </a:spcAft>
              <a:buClr>
                <a:srgbClr val="0369a3"/>
              </a:buClr>
              <a:buSzPct val="70000"/>
              <a:buFont typeface="Wingdings" charset="2"/>
              <a:buChar char=""/>
            </a:pPr>
            <a:r>
              <a:rPr b="0" lang="en-US" sz="2000" spc="-1" strike="noStrike">
                <a:solidFill>
                  <a:srgbClr val="000000"/>
                </a:solidFill>
                <a:latin typeface="Open Sans"/>
              </a:rPr>
              <a:t>Begin by writing a </a:t>
            </a:r>
            <a:r>
              <a:rPr b="1" lang="en-US" sz="2000" spc="-1" strike="noStrike">
                <a:solidFill>
                  <a:srgbClr val="000000"/>
                </a:solidFill>
                <a:latin typeface="Open Sans"/>
              </a:rPr>
              <a:t>plan in plain English</a:t>
            </a:r>
            <a:endParaRPr b="0" lang="en-US" sz="2000" spc="-1" strike="noStrike">
              <a:solidFill>
                <a:srgbClr val="000000"/>
              </a:solidFill>
              <a:latin typeface="Arial"/>
            </a:endParaRPr>
          </a:p>
          <a:p>
            <a:pPr marL="252000" indent="-252000">
              <a:lnSpc>
                <a:spcPct val="110000"/>
              </a:lnSpc>
              <a:spcAft>
                <a:spcPts val="992"/>
              </a:spcAft>
              <a:buClr>
                <a:srgbClr val="0369a3"/>
              </a:buClr>
              <a:buSzPct val="70000"/>
              <a:buFont typeface="Wingdings" charset="2"/>
              <a:buChar char=""/>
            </a:pPr>
            <a:r>
              <a:rPr b="0" lang="en-US" sz="2000" spc="-1" strike="noStrike">
                <a:solidFill>
                  <a:srgbClr val="000000"/>
                </a:solidFill>
                <a:latin typeface="Open Sans"/>
              </a:rPr>
              <a:t>Then paste your plan into the prompt with the surrounding context (pin numbers etc.)</a:t>
            </a:r>
            <a:endParaRPr b="0" lang="en-US" sz="2000" spc="-1" strike="noStrike">
              <a:solidFill>
                <a:srgbClr val="000000"/>
              </a:solidFill>
              <a:latin typeface="Arial"/>
            </a:endParaRPr>
          </a:p>
        </p:txBody>
      </p:sp>
      <p:sp>
        <p:nvSpPr>
          <p:cNvPr id="99" name=""/>
          <p:cNvSpPr txBox="1"/>
          <p:nvPr/>
        </p:nvSpPr>
        <p:spPr>
          <a:xfrm>
            <a:off x="360000" y="2880000"/>
            <a:ext cx="8424000" cy="792000"/>
          </a:xfrm>
          <a:prstGeom prst="rect">
            <a:avLst/>
          </a:prstGeom>
          <a:solidFill>
            <a:srgbClr val="fff6cc"/>
          </a:solidFill>
          <a:ln w="18000">
            <a:solidFill>
              <a:srgbClr val="c99c00"/>
            </a:solidFill>
            <a:round/>
          </a:ln>
        </p:spPr>
        <p:txBody>
          <a:bodyPr lIns="144000" rIns="144000" tIns="108000" bIns="108000" anchor="ctr">
            <a:noAutofit/>
          </a:bodyPr>
          <a:p>
            <a:pPr>
              <a:lnSpc>
                <a:spcPct val="110000"/>
              </a:lnSpc>
              <a:spcAft>
                <a:spcPts val="709"/>
              </a:spcAft>
            </a:pPr>
            <a:r>
              <a:rPr b="0" i="1" lang="en-US" sz="1400" spc="-1" strike="noStrike">
                <a:solidFill>
                  <a:srgbClr val="000000"/>
                </a:solidFill>
                <a:latin typeface="Open Sans"/>
              </a:rPr>
              <a:t>e.g. forward 2 seconds at 50%, pause 0.5 sec, spin left 1 second at full speed,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311760" y="360000"/>
            <a:ext cx="8520120" cy="572400"/>
          </a:xfrm>
          <a:prstGeom prst="rect">
            <a:avLst/>
          </a:prstGeom>
          <a:noFill/>
          <a:ln w="0">
            <a:noFill/>
          </a:ln>
        </p:spPr>
        <p:txBody>
          <a:bodyPr lIns="91440" rIns="91440" tIns="91440" bIns="91440" anchor="t">
            <a:normAutofit fontScale="87027"/>
          </a:bodyPr>
          <a:p>
            <a:pPr indent="0">
              <a:lnSpc>
                <a:spcPct val="100000"/>
              </a:lnSpc>
              <a:buNone/>
            </a:pPr>
            <a:r>
              <a:rPr b="0" lang="en-US" sz="3000" spc="-1" strike="noStrike">
                <a:solidFill>
                  <a:srgbClr val="000000"/>
                </a:solidFill>
                <a:latin typeface="Oswald"/>
                <a:ea typeface="Oswald"/>
              </a:rPr>
              <a:t>Wrap-up</a:t>
            </a:r>
            <a:endParaRPr b="0" lang="en-US" sz="3000" spc="-1" strike="noStrike">
              <a:solidFill>
                <a:srgbClr val="000000"/>
              </a:solidFill>
              <a:latin typeface="Arial"/>
            </a:endParaRPr>
          </a:p>
        </p:txBody>
      </p:sp>
      <p:sp>
        <p:nvSpPr>
          <p:cNvPr id="101" name=""/>
          <p:cNvSpPr/>
          <p:nvPr/>
        </p:nvSpPr>
        <p:spPr>
          <a:xfrm>
            <a:off x="342000" y="954000"/>
            <a:ext cx="8460000" cy="0"/>
          </a:xfrm>
          <a:prstGeom prst="line">
            <a:avLst/>
          </a:prstGeom>
          <a:ln w="43200">
            <a:solidFill>
              <a:srgbClr val="f5d90a"/>
            </a:solidFill>
            <a:round/>
          </a:ln>
        </p:spPr>
        <p:style>
          <a:lnRef idx="0"/>
          <a:fillRef idx="0"/>
          <a:effectRef idx="0"/>
          <a:fontRef idx="minor"/>
        </p:style>
        <p:txBody>
          <a:bodyPr lIns="111600" rIns="111600" tIns="-66600" bIns="-66600" anchor="t">
            <a:noAutofit/>
          </a:bodyPr>
          <a:p>
            <a:endParaRPr b="0" lang="en-US" sz="1800" spc="-1" strike="noStrike">
              <a:solidFill>
                <a:srgbClr val="000000"/>
              </a:solidFill>
              <a:latin typeface="Arial"/>
            </a:endParaRPr>
          </a:p>
        </p:txBody>
      </p:sp>
      <p:sp>
        <p:nvSpPr>
          <p:cNvPr id="102" name=""/>
          <p:cNvSpPr txBox="1"/>
          <p:nvPr/>
        </p:nvSpPr>
        <p:spPr>
          <a:xfrm>
            <a:off x="360000" y="1234800"/>
            <a:ext cx="8555400" cy="3565800"/>
          </a:xfrm>
          <a:prstGeom prst="rect">
            <a:avLst/>
          </a:prstGeom>
          <a:noFill/>
          <a:ln w="0">
            <a:noFill/>
          </a:ln>
        </p:spPr>
        <p:txBody>
          <a:bodyPr lIns="36000" rIns="36000" tIns="36000" bIns="36000" anchor="t">
            <a:noAutofit/>
          </a:bodyPr>
          <a:p>
            <a:pPr marL="216000" indent="-216000">
              <a:lnSpc>
                <a:spcPct val="110000"/>
              </a:lnSpc>
              <a:spcAft>
                <a:spcPts val="850"/>
              </a:spcAft>
              <a:buClr>
                <a:srgbClr val="000000"/>
              </a:buClr>
              <a:buSzPct val="45000"/>
              <a:buFont typeface="Wingdings" charset="2"/>
              <a:buChar char=""/>
            </a:pPr>
            <a:r>
              <a:rPr b="0" lang="en-US" sz="1800" spc="-1" strike="noStrike">
                <a:solidFill>
                  <a:srgbClr val="000000"/>
                </a:solidFill>
                <a:latin typeface="Open Sans"/>
              </a:rPr>
              <a:t>Give the AI as much context as you can</a:t>
            </a:r>
            <a:endParaRPr b="0" lang="en-US" sz="1800" spc="-1" strike="noStrike">
              <a:solidFill>
                <a:srgbClr val="000000"/>
              </a:solidFill>
              <a:latin typeface="Arial"/>
            </a:endParaRPr>
          </a:p>
          <a:p>
            <a:pPr marL="216000" indent="-216000">
              <a:lnSpc>
                <a:spcPct val="110000"/>
              </a:lnSpc>
              <a:spcAft>
                <a:spcPts val="850"/>
              </a:spcAft>
              <a:buClr>
                <a:srgbClr val="000000"/>
              </a:buClr>
              <a:buSzPct val="45000"/>
              <a:buFont typeface="Wingdings" charset="2"/>
              <a:buChar char=""/>
            </a:pPr>
            <a:r>
              <a:rPr b="0" lang="en-US" sz="1800" spc="-1" strike="noStrike">
                <a:solidFill>
                  <a:srgbClr val="000000"/>
                </a:solidFill>
                <a:latin typeface="Open Sans"/>
              </a:rPr>
              <a:t>Be unambiguous</a:t>
            </a:r>
            <a:endParaRPr b="0" lang="en-US" sz="1800" spc="-1" strike="noStrike">
              <a:solidFill>
                <a:srgbClr val="000000"/>
              </a:solidFill>
              <a:latin typeface="Arial"/>
            </a:endParaRPr>
          </a:p>
          <a:p>
            <a:pPr marL="216000" indent="-216000">
              <a:lnSpc>
                <a:spcPct val="110000"/>
              </a:lnSpc>
              <a:spcAft>
                <a:spcPts val="850"/>
              </a:spcAft>
              <a:buClr>
                <a:srgbClr val="000000"/>
              </a:buClr>
              <a:buSzPct val="45000"/>
              <a:buFont typeface="Wingdings" charset="2"/>
              <a:buChar char=""/>
            </a:pPr>
            <a:r>
              <a:rPr b="0" lang="en-US" sz="1800" spc="-1" strike="noStrike">
                <a:solidFill>
                  <a:srgbClr val="000000"/>
                </a:solidFill>
                <a:latin typeface="Open Sans"/>
              </a:rPr>
              <a:t>Consider writing a text file with your requirements and context</a:t>
            </a:r>
            <a:endParaRPr b="0" lang="en-US" sz="1800" spc="-1" strike="noStrike">
              <a:solidFill>
                <a:srgbClr val="000000"/>
              </a:solidFill>
              <a:latin typeface="Arial"/>
            </a:endParaRPr>
          </a:p>
          <a:p>
            <a:pPr marL="216000" indent="-216000">
              <a:lnSpc>
                <a:spcPct val="110000"/>
              </a:lnSpc>
              <a:spcAft>
                <a:spcPts val="850"/>
              </a:spcAft>
              <a:buClr>
                <a:srgbClr val="000000"/>
              </a:buClr>
              <a:buSzPct val="45000"/>
              <a:buFont typeface="Wingdings" charset="2"/>
              <a:buChar char=""/>
            </a:pPr>
            <a:endParaRPr b="0" lang="en-US" sz="1800" spc="-1" strike="noStrike">
              <a:solidFill>
                <a:srgbClr val="000000"/>
              </a:solidFill>
              <a:latin typeface="Arial"/>
            </a:endParaRPr>
          </a:p>
          <a:p>
            <a:pPr marL="216000" indent="-216000">
              <a:lnSpc>
                <a:spcPct val="110000"/>
              </a:lnSpc>
              <a:spcAft>
                <a:spcPts val="850"/>
              </a:spcAft>
              <a:buClr>
                <a:srgbClr val="000000"/>
              </a:buClr>
              <a:buSzPct val="45000"/>
              <a:buFont typeface="Wingdings" charset="2"/>
              <a:buChar char=""/>
            </a:pPr>
            <a:r>
              <a:rPr b="0" lang="en-US" sz="1800" spc="-1" strike="noStrike">
                <a:solidFill>
                  <a:srgbClr val="2a6099"/>
                </a:solidFill>
                <a:latin typeface="Open Sans"/>
              </a:rPr>
              <a:t>If you like the DPRG, email </a:t>
            </a:r>
            <a:r>
              <a:rPr b="0" lang="en-US" sz="1800" spc="-1" strike="noStrike">
                <a:solidFill>
                  <a:srgbClr val="2a6099"/>
                </a:solidFill>
                <a:latin typeface="Open Sans"/>
                <a:hlinkClick r:id="rId1"/>
              </a:rPr>
              <a:t>paul.bouchier@gmail.com</a:t>
            </a:r>
            <a:r>
              <a:rPr b="0" lang="en-US" sz="1800" spc="-1" strike="noStrike">
                <a:solidFill>
                  <a:srgbClr val="2a6099"/>
                </a:solidFill>
                <a:latin typeface="Open Sans"/>
              </a:rPr>
              <a:t> to connect with us</a:t>
            </a:r>
            <a:endParaRPr b="0" lang="en-US" sz="1800" spc="-1" strike="noStrike">
              <a:solidFill>
                <a:srgbClr val="000000"/>
              </a:solidFill>
              <a:latin typeface="Arial"/>
            </a:endParaRPr>
          </a:p>
          <a:p>
            <a:pPr marL="216000" indent="-216000">
              <a:lnSpc>
                <a:spcPct val="110000"/>
              </a:lnSpc>
              <a:spcAft>
                <a:spcPts val="850"/>
              </a:spcAft>
              <a:buClr>
                <a:srgbClr val="000000"/>
              </a:buClr>
              <a:buSzPct val="45000"/>
              <a:buFont typeface="Wingdings" charset="2"/>
              <a:buChar char=""/>
            </a:pPr>
            <a:r>
              <a:rPr b="0" lang="en-US" sz="1800" spc="-1" strike="noStrike">
                <a:solidFill>
                  <a:srgbClr val="ff4000"/>
                </a:solidFill>
                <a:latin typeface="Open Sans"/>
              </a:rPr>
              <a:t>If you love the DPRG, consider becoming a member and supporting the group</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2026-10-22T21:34:48Z</dcterms:modified>
  <cp:revision>7</cp:revision>
  <dc:subject/>
  <dc:title/>
</cp:coreProperties>
</file>